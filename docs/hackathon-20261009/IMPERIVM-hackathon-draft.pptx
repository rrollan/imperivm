
<file path=[Content_Types].xml><?xml version="1.0" encoding="utf-8"?>
<Types xmlns="http://schemas.openxmlformats.org/package/2006/content-types">
  <Default Extension="xml" ContentType="application/vnd.openxmlformats-package.core-properties+xml"/>
  <Default Extension="bin" ContentType="image/webp"/>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0462c19f83462e" /><Relationship Type="http://schemas.openxmlformats.org/officeDocument/2006/relationships/extended-properties" Target="/docProps/app.xml" Id="Rfe63783816cf484c" /><Relationship Type="http://schemas.openxmlformats.org/officeDocument/2006/relationships/officeDocument" Target="/ppt/presentation.xml" Id="Ra3b321eca71c4345" /></Relationships>
</file>

<file path=ppt/presentation.xml><?xml version="1.0" encoding="utf-8"?>
<p:presentation xmlns:p="http://schemas.openxmlformats.org/presentationml/2006/main">
  <p:sldMasterIdLst>
    <p:sldMasterId xmlns:r="http://schemas.openxmlformats.org/officeDocument/2006/relationships" id="2147483648" r:id="R5bc8df13a01244a1"/>
  </p:sldMasterIdLst>
  <p:notesMasterIdLst>
    <p:notesMasterId xmlns:r="http://schemas.openxmlformats.org/officeDocument/2006/relationships" r:id="R87b325da09144efb"/>
  </p:notesMasterIdLst>
  <p:sldIdLst>
    <p:sldId xmlns:r="http://schemas.openxmlformats.org/officeDocument/2006/relationships" id="256" r:id="Rbabc7fa077144ad4"/>
    <p:sldId xmlns:r="http://schemas.openxmlformats.org/officeDocument/2006/relationships" id="257" r:id="R0cf672fce0014b83"/>
    <p:sldId xmlns:r="http://schemas.openxmlformats.org/officeDocument/2006/relationships" id="258" r:id="Reef543a482b94b19"/>
    <p:sldId xmlns:r="http://schemas.openxmlformats.org/officeDocument/2006/relationships" id="259" r:id="R1247552a3e434096"/>
    <p:sldId xmlns:r="http://schemas.openxmlformats.org/officeDocument/2006/relationships" id="260" r:id="R1a675026c2b3424a"/>
    <p:sldId xmlns:r="http://schemas.openxmlformats.org/officeDocument/2006/relationships" id="261" r:id="Rbc0026e3d8314af8"/>
    <p:sldId xmlns:r="http://schemas.openxmlformats.org/officeDocument/2006/relationships" id="262" r:id="Rf98cd3204c27442f"/>
    <p:sldId xmlns:r="http://schemas.openxmlformats.org/officeDocument/2006/relationships" id="263" r:id="R581f52dfdf8840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219a03dfa74979" /><Relationship Type="http://schemas.openxmlformats.org/officeDocument/2006/relationships/slideMaster" Target="/ppt/slideMasters/slideMaster1.xml" Id="R5bc8df13a01244a1" /><Relationship Type="http://schemas.openxmlformats.org/officeDocument/2006/relationships/notesMaster" Target="/ppt/notesMasters/notesMaster1.xml" Id="R87b325da09144efb" /><Relationship Type="http://schemas.openxmlformats.org/officeDocument/2006/relationships/presProps" Target="/ppt/presProps.xml" Id="R9d452422d3484f33" /><Relationship Type="http://schemas.openxmlformats.org/officeDocument/2006/relationships/tableStyles" Target="/ppt/tableStyles.xml" Id="R7fcd9261ede941d3" /><Relationship Type="http://schemas.openxmlformats.org/officeDocument/2006/relationships/slide" Target="/ppt/slides/slide1.xml" Id="Rbabc7fa077144ad4" /><Relationship Type="http://schemas.openxmlformats.org/officeDocument/2006/relationships/slide" Target="/ppt/slides/slide2.xml" Id="R0cf672fce0014b83" /><Relationship Type="http://schemas.openxmlformats.org/officeDocument/2006/relationships/slide" Target="/ppt/slides/slide3.xml" Id="Reef543a482b94b19" /><Relationship Type="http://schemas.openxmlformats.org/officeDocument/2006/relationships/slide" Target="/ppt/slides/slide4.xml" Id="R1247552a3e434096" /><Relationship Type="http://schemas.openxmlformats.org/officeDocument/2006/relationships/slide" Target="/ppt/slides/slide5.xml" Id="R1a675026c2b3424a" /><Relationship Type="http://schemas.openxmlformats.org/officeDocument/2006/relationships/slide" Target="/ppt/slides/slide6.xml" Id="Rbc0026e3d8314af8" /><Relationship Type="http://schemas.openxmlformats.org/officeDocument/2006/relationships/slide" Target="/ppt/slides/slide7.xml" Id="Rf98cd3204c27442f" /><Relationship Type="http://schemas.openxmlformats.org/officeDocument/2006/relationships/slide" Target="/ppt/slides/slide8.xml" Id="R581f52dfdf8840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d82ed7676746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0be39975ac4d0d" /><Relationship Type="http://schemas.openxmlformats.org/officeDocument/2006/relationships/notesMaster" Target="/ppt/notesMasters/notesMaster1.xml" Id="Ra240d46dfb0f45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ee2c35c6e14101" /><Relationship Type="http://schemas.openxmlformats.org/officeDocument/2006/relationships/notesMaster" Target="/ppt/notesMasters/notesMaster1.xml" Id="R53d7f04431bc4c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888bc401f74774" /><Relationship Type="http://schemas.openxmlformats.org/officeDocument/2006/relationships/notesMaster" Target="/ppt/notesMasters/notesMaster1.xml" Id="R81965548dfea4e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2f5020e4264fb8" /><Relationship Type="http://schemas.openxmlformats.org/officeDocument/2006/relationships/notesMaster" Target="/ppt/notesMasters/notesMaster1.xml" Id="R0d6cdf1dae324c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7cbf41951942e6" /><Relationship Type="http://schemas.openxmlformats.org/officeDocument/2006/relationships/notesMaster" Target="/ppt/notesMasters/notesMaster1.xml" Id="Ra963fd00262648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d936afb1fc40fb" /><Relationship Type="http://schemas.openxmlformats.org/officeDocument/2006/relationships/notesMaster" Target="/ppt/notesMasters/notesMaster1.xml" Id="R5757fcad035648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88916c89b54b64" /><Relationship Type="http://schemas.openxmlformats.org/officeDocument/2006/relationships/notesMaster" Target="/ppt/notesMasters/notesMaster1.xml" Id="R8873a825316e4d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d64b1291774d59" /><Relationship Type="http://schemas.openxmlformats.org/officeDocument/2006/relationships/notesMaster" Target="/ppt/notesMasters/notesMaster1.xml" Id="Re1f37511433145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title and founder: repository README. Demo: https://imperivm.onrender.com. Build status checked 9 Oct 2026. This is a preparation draft, not evidence of submission or a published iDos game.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Mechanics: lib/engine and lib/cards.ts. Mempool is a public queue inside the game; block numbers are local game turns, not Solana transactions. Card illustrations: existing project assets. No claims about real staking yields or financial returns.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public training match, screenshot captured 9 Oct 2026 at 1280×720: readme/current/battle.jpg and its README media ledger. Arena supports AI and free online 1v1. Public WS readiness and code tests are distinct from a completed two-device live PvP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and starter availability: lib/cards.ts, lib/collection/access.ts, lib/collection/starterDecks.ts. Actual deck-builder screenshot: readme/current/deck-builder.jpg, 9 Oct 2026. 99 total = 49 free base + 50 pack-exclusive. Five free rulers and four case rulers.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local demo screenshot: readme/current/packs.jpg, 9 Oct 2026. Five-card packs, 50 demo IMP per pack; demo wallet shown has no cash value. Live iDos collection/store and token remain unconfigured: read-only list_my_titles on 9 Oct returned zero Titles for connected publisher. Do not represent screenshot balance as real funds.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lib/idos/client.ts; lib/solana/devnet.ts; proof verification and first-win badge modules; docs/idos-colosseum-handoff.md. Wallet connect and Ed25519 participation signatures are implemented. Signatures are off-chain messages, not on-chain match settlements. AI wins are self-reported. Metaplex Core first-win badge is devnet code; end-to-end owner mint not verified. https://solana.com/docs/core.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rules read in native browser 9 Oct 2026: https://idosgames.com/contest/solana-superteam-kz/?tab=rules. Require catalog publication, meaningful Solana integration and game token on Solana mainnet. MCP list_my_titles returned no Titles on connected publisher. Current virtual IMP is not SPL. Existing Next.js app needs a real static game build for iDos; external-site iframe wrapper is rejected per MCP tool documentation. No payment, mint, deploy or submission performed. Deadline 13 Oct 2026 11:59 Asia/Almaty (06:59 UTC).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name/role: repository README, Rollan Rogozhin, Founder &amp; Developer. Git history inspected: first repository commit dated 3 Oct 2026; prior work outside repository must be disclosed by founder if any. Team background, funding and traction are not independently established and must be provided in application by founder. Current home screenshot: readme/current/home.jpg. No claims of paid users, revenue, grants or eligibility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22143949a64b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13b73a309241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01734af0904b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810448ac9a43a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2915a1552340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c985ea58da43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7103E9-9FD1-4432-8AEE-BAE6D2BF637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FBB757-028D-4370-88E2-BE7493DDA4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B400938-DF29-4A68-B5D3-99004738C91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3A1AC7-C504-4CE0-BCBB-BCF0A6B359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1286D9D-4C41-4557-A040-4B80F48842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BF3CA66-48FD-4F01-AC64-262DE6C7FB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F9074F-4F55-46CA-8E71-1F37314BEE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186788-71F5-4F59-A996-99B568FF1AF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ABA7FC-4B51-4264-A177-6529EC28E4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B3ABE4-3C5F-4E11-88E2-D69029D057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d94cb182364394" /><Relationship Type="http://schemas.openxmlformats.org/officeDocument/2006/relationships/slideLayout" Target="/ppt/slideLayouts/slideLayout1.xml" Id="Rb0bc5a17dfb94502" /><Relationship Type="http://schemas.openxmlformats.org/officeDocument/2006/relationships/slideLayout" Target="/ppt/slideLayouts/slideLayout2.xml" Id="R4365d059f00546a4" /><Relationship Type="http://schemas.openxmlformats.org/officeDocument/2006/relationships/slideLayout" Target="/ppt/slideLayouts/slideLayout3.xml" Id="Rf9eaa1b181c6450e" /><Relationship Type="http://schemas.openxmlformats.org/officeDocument/2006/relationships/slideLayout" Target="/ppt/slideLayouts/slideLayout4.xml" Id="R0ce092ee0788495f" /><Relationship Type="http://schemas.openxmlformats.org/officeDocument/2006/relationships/slideLayout" Target="/ppt/slideLayouts/slideLayout5.xml" Id="Ra1bac653f3674841" /><Relationship Type="http://schemas.openxmlformats.org/officeDocument/2006/relationships/slideLayout" Target="/ppt/slideLayouts/slideLayout6.xml" Id="Refb39d0c805845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bc5a17dfb94502"/>
    <p:sldLayoutId xmlns:r="http://schemas.openxmlformats.org/officeDocument/2006/relationships" id="2147483650" r:id="R4365d059f00546a4"/>
    <p:sldLayoutId xmlns:r="http://schemas.openxmlformats.org/officeDocument/2006/relationships" id="2147483651" r:id="Rf9eaa1b181c6450e"/>
    <p:sldLayoutId xmlns:r="http://schemas.openxmlformats.org/officeDocument/2006/relationships" id="2147483652" r:id="R0ce092ee0788495f"/>
    <p:sldLayoutId xmlns:r="http://schemas.openxmlformats.org/officeDocument/2006/relationships" id="2147483653" r:id="Ra1bac653f3674841"/>
    <p:sldLayoutId xmlns:r="http://schemas.openxmlformats.org/officeDocument/2006/relationships" id="2147483654" r:id="Refb39d0c805845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7cf31cec1bd41d6" /><Relationship Type="http://schemas.openxmlformats.org/officeDocument/2006/relationships/image" Target="/ppt/media/image.bin" Id="R4cbd3743fe02457e" /><Relationship Type="http://schemas.openxmlformats.org/officeDocument/2006/relationships/notesSlide" Target="/ppt/notesSlides/notesSlide1.xml" Id="R097b3dcd199d45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900b9b4e1dd4083" /><Relationship Type="http://schemas.openxmlformats.org/officeDocument/2006/relationships/image" Target="/ppt/media/image2.bin" Id="R7a8d970f46804fa5" /><Relationship Type="http://schemas.openxmlformats.org/officeDocument/2006/relationships/notesSlide" Target="/ppt/notesSlides/notesSlide2.xml" Id="R027406ff310443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6286ff23d34e41" /><Relationship Type="http://schemas.openxmlformats.org/officeDocument/2006/relationships/image" Target="/ppt/media/image.jpeg" Id="Rc3a38a2a38f54e3f" /><Relationship Type="http://schemas.openxmlformats.org/officeDocument/2006/relationships/notesSlide" Target="/ppt/notesSlides/notesSlide3.xml" Id="R8484295ed0a149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d42012376a4970" /><Relationship Type="http://schemas.openxmlformats.org/officeDocument/2006/relationships/image" Target="/ppt/media/image2.jpeg" Id="R8db51e487f0e4a07" /><Relationship Type="http://schemas.openxmlformats.org/officeDocument/2006/relationships/notesSlide" Target="/ppt/notesSlides/notesSlide4.xml" Id="R690d75b468eb49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2dc4f6903f54782" /><Relationship Type="http://schemas.openxmlformats.org/officeDocument/2006/relationships/image" Target="/ppt/media/image3.jpeg" Id="Raad504965df74a9c" /><Relationship Type="http://schemas.openxmlformats.org/officeDocument/2006/relationships/notesSlide" Target="/ppt/notesSlides/notesSlide5.xml" Id="Ra2e8e7cfa2c74c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9c12e6453ca41ab" /><Relationship Type="http://schemas.openxmlformats.org/officeDocument/2006/relationships/notesSlide" Target="/ppt/notesSlides/notesSlide6.xml" Id="R90f4ebae4dc74e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c66756d12b8405f" /><Relationship Type="http://schemas.openxmlformats.org/officeDocument/2006/relationships/notesSlide" Target="/ppt/notesSlides/notesSlide7.xml" Id="R9b2211fe60024a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f244351488e47ed" /><Relationship Type="http://schemas.openxmlformats.org/officeDocument/2006/relationships/image" Target="/ppt/media/image4.jpeg" Id="Raf1e316bbbb64b83" /><Relationship Type="http://schemas.openxmlformats.org/officeDocument/2006/relationships/notesSlide" Target="/ppt/notesSlides/notesSlide8.xml" Id="R8d0cf893c919457f" /></Relationships>
</file>

<file path=ppt/slides/slide1.xml><?xml version="1.0" encoding="utf-8"?>
<p:sld xmlns:p="http://schemas.openxmlformats.org/presentationml/2006/main">
  <p:cSld>
    <p:bg>
      <p:bgPr>
        <a:solidFill xmlns:a="http://schemas.openxmlformats.org/drawingml/2006/main">
          <a:srgbClr val="1D171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F6A3C1-5037-4C87-85D3-C4845570D381}"/>
              </a:ext>
            </a:extLst>
          </p:cNvPr>
          <p:cNvSpPr>
            <a:spLocks xmlns:a="http://schemas.openxmlformats.org/drawingml/2006/main" noGrp="1"/>
          </p:cNvSpPr>
          <p:nvPr/>
        </p:nvSpPr>
        <p:spPr>
          <a:xfrm xmlns:a="http://schemas.openxmlformats.org/drawingml/2006/main">
            <a:off x="533400" y="3238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CFA25D"/>
                </a:solidFill>
                <a:latin typeface="Arial"/>
                <a:ea typeface="Arial"/>
                <a:cs typeface="Arial"/>
              </a:defRPr>
            </a:defPPr>
          </a:lstStyle>
          <a:p xmlns:a="http://schemas.openxmlformats.org/drawingml/2006/main">
            <a:pPr>
              <a:defRPr sz="1200" b="1">
                <a:solidFill>
                  <a:srgbClr val="CFA25D"/>
                </a:solidFill>
                <a:latin typeface="Arial"/>
                <a:ea typeface="Arial"/>
                <a:cs typeface="Arial"/>
              </a:defRPr>
            </a:pPr>
            <a:r>
              <a:rPr sz="1200" b="1">
                <a:solidFill>
                  <a:srgbClr val="CFA25D"/>
                </a:solidFill>
                <a:latin typeface="Arial"/>
                <a:ea typeface="Arial"/>
                <a:cs typeface="Arial"/>
              </a:rPr>
              <a:t>SOLANA × IDOS GAMES</a:t>
            </a:r>
          </a:p>
        </p:txBody>
      </p:sp>
      <p:sp>
        <p:nvSpPr>
          <p:cNvPr id="2" name="">
            <a:extLst xmlns:a="http://schemas.openxmlformats.org/drawingml/2006/main">
              <a:ext uri="{FF2B5EF4-FFF2-40B4-BE49-F238E27FC236}">
                <a16:creationId xmlns:a16="http://schemas.microsoft.com/office/drawing/2014/main" id="{2731F1BC-C741-4C56-85A1-C200C42A1C4D}"/>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644C31"/>
          </a:solidFill>
          <a:ln xmlns:a="http://schemas.openxmlformats.org/drawingml/2006/main" w="9525">
            <a:solidFill>
              <a:srgbClr val="644C31"/>
            </a:solidFill>
          </a:ln>
        </p:spPr>
      </p:sp>
      <p:sp>
        <p:nvSpPr>
          <p:cNvPr id="3" name="">
            <a:extLst xmlns:a="http://schemas.openxmlformats.org/drawingml/2006/main">
              <a:ext uri="{FF2B5EF4-FFF2-40B4-BE49-F238E27FC236}">
                <a16:creationId xmlns:a16="http://schemas.microsoft.com/office/drawing/2014/main" id="{252FB8AD-0CA8-4115-962C-40CBD3CA01F3}"/>
              </a:ext>
            </a:extLst>
          </p:cNvPr>
          <p:cNvSpPr>
            <a:spLocks xmlns:a="http://schemas.openxmlformats.org/drawingml/2006/main" noGrp="1"/>
          </p:cNvSpPr>
          <p:nvPr/>
        </p:nvSpPr>
        <p:spPr>
          <a:xfrm xmlns:a="http://schemas.openxmlformats.org/drawingml/2006/main">
            <a:off x="533400" y="6457950"/>
            <a:ext cx="609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IMPERIVM  /  CRYPTO WORLD’S FAIR</a:t>
            </a:r>
          </a:p>
        </p:txBody>
      </p:sp>
      <p:sp>
        <p:nvSpPr>
          <p:cNvPr id="4" name="">
            <a:extLst xmlns:a="http://schemas.openxmlformats.org/drawingml/2006/main">
              <a:ext uri="{FF2B5EF4-FFF2-40B4-BE49-F238E27FC236}">
                <a16:creationId xmlns:a16="http://schemas.microsoft.com/office/drawing/2014/main" id="{A5A043D3-9B4F-4D5E-8ED5-222021626EDD}"/>
              </a:ext>
            </a:extLst>
          </p:cNvPr>
          <p:cNvSpPr>
            <a:spLocks xmlns:a="http://schemas.openxmlformats.org/drawingml/2006/main" noGrp="1"/>
          </p:cNvSpPr>
          <p:nvPr/>
        </p:nvSpPr>
        <p:spPr>
          <a:xfrm xmlns:a="http://schemas.openxmlformats.org/drawingml/2006/main">
            <a:off x="8286750" y="6457950"/>
            <a:ext cx="3371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Hackathon draft · 9 Oct 2026  /  1</a:t>
            </a:r>
          </a:p>
        </p:txBody>
      </p:sp>
      <p:pic>
        <p:nvPicPr>
          <p:cNvPr id="5" name="">
            <a:extLst xmlns:a="http://schemas.openxmlformats.org/drawingml/2006/main">
              <a:ext uri="{FF2B5EF4-FFF2-40B4-BE49-F238E27FC236}">
                <a16:creationId xmlns:a16="http://schemas.microsoft.com/office/drawing/2014/main" id="{E7CFB2AE-1C6D-4C6D-A68F-3F7542734755}"/>
              </a:ext>
            </a:extLst>
          </p:cNvPr>
          <p:cNvPicPr>
            <a:picLocks xmlns:a="http://schemas.openxmlformats.org/drawingml/2006/main" noChangeAspect="1"/>
          </p:cNvPicPr>
          <p:nvPr/>
        </p:nvPicPr>
        <p:blipFill>
          <a:blip xmlns:r="http://schemas.openxmlformats.org/officeDocument/2006/relationships" xmlns:a="http://schemas.openxmlformats.org/drawingml/2006/main" r:embed="R4cbd3743fe02457e"/>
          <a:srcRect xmlns:a="http://schemas.openxmlformats.org/drawingml/2006/main" l="0" t="10447" r="0" b="10447"/>
          <a:stretch xmlns:a="http://schemas.openxmlformats.org/drawingml/2006/main">
            <a:fillRect l="0" t="0" r="0" b="0"/>
          </a:stretch>
        </p:blipFill>
        <p:spPr>
          <a:xfrm xmlns:a="http://schemas.openxmlformats.org/drawingml/2006/main">
            <a:off x="6934200" y="0"/>
            <a:ext cx="5257800" cy="6238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3456E31-C745-4601-98D0-ECCDA0F247EE}"/>
              </a:ext>
            </a:extLst>
          </p:cNvPr>
          <p:cNvSpPr>
            <a:spLocks xmlns:a="http://schemas.openxmlformats.org/drawingml/2006/main" noGrp="1"/>
          </p:cNvSpPr>
          <p:nvPr/>
        </p:nvSpPr>
        <p:spPr>
          <a:xfrm xmlns:a="http://schemas.openxmlformats.org/drawingml/2006/main">
            <a:off x="533400" y="12573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850" b="1">
                <a:solidFill>
                  <a:srgbClr val="F4EAD3"/>
                </a:solidFill>
                <a:latin typeface="Georgia"/>
                <a:ea typeface="Georgia"/>
                <a:cs typeface="Georgia"/>
              </a:defRPr>
            </a:defPPr>
          </a:lstStyle>
          <a:p xmlns:a="http://schemas.openxmlformats.org/drawingml/2006/main">
            <a:pPr>
              <a:defRPr sz="5850" b="1">
                <a:solidFill>
                  <a:srgbClr val="F4EAD3"/>
                </a:solidFill>
                <a:latin typeface="Georgia"/>
                <a:ea typeface="Georgia"/>
                <a:cs typeface="Georgia"/>
              </a:defRPr>
            </a:pPr>
            <a:r>
              <a:rPr sz="5850" b="1">
                <a:solidFill>
                  <a:srgbClr val="F4EAD3"/>
                </a:solidFill>
                <a:latin typeface="Georgia"/>
                <a:ea typeface="Georgia"/>
                <a:cs typeface="Georgia"/>
              </a:rPr>
              <a:t>IMPERIVM</a:t>
            </a:r>
          </a:p>
        </p:txBody>
      </p:sp>
      <p:sp>
        <p:nvSpPr>
          <p:cNvPr id="7" name="">
            <a:extLst xmlns:a="http://schemas.openxmlformats.org/drawingml/2006/main">
              <a:ext uri="{FF2B5EF4-FFF2-40B4-BE49-F238E27FC236}">
                <a16:creationId xmlns:a16="http://schemas.microsoft.com/office/drawing/2014/main" id="{085FB9AF-437A-497A-B6F4-29382B0345B6}"/>
              </a:ext>
            </a:extLst>
          </p:cNvPr>
          <p:cNvSpPr>
            <a:spLocks xmlns:a="http://schemas.openxmlformats.org/drawingml/2006/main" noGrp="1"/>
          </p:cNvSpPr>
          <p:nvPr/>
        </p:nvSpPr>
        <p:spPr>
          <a:xfrm xmlns:a="http://schemas.openxmlformats.org/drawingml/2006/main">
            <a:off x="561975" y="24003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0">
                <a:solidFill>
                  <a:srgbClr val="CFA25D"/>
                </a:solidFill>
                <a:latin typeface="Georgia"/>
                <a:ea typeface="Georgia"/>
                <a:cs typeface="Georgia"/>
              </a:defRPr>
            </a:defPPr>
          </a:lstStyle>
          <a:p xmlns:a="http://schemas.openxmlformats.org/drawingml/2006/main">
            <a:pPr>
              <a:defRPr sz="2925" b="0">
                <a:solidFill>
                  <a:srgbClr val="CFA25D"/>
                </a:solidFill>
                <a:latin typeface="Georgia"/>
                <a:ea typeface="Georgia"/>
                <a:cs typeface="Georgia"/>
              </a:defRPr>
            </a:pPr>
            <a:r>
              <a:rPr sz="2925" b="0">
                <a:solidFill>
                  <a:srgbClr val="CFA25D"/>
                </a:solidFill>
                <a:latin typeface="Georgia"/>
                <a:ea typeface="Georgia"/>
                <a:cs typeface="Georgia"/>
              </a:rPr>
              <a:t>Read the mempool.</a:t>
            </a:r>
          </a:p>
          <a:p xmlns:a="http://schemas.openxmlformats.org/drawingml/2006/main">
            <a:pPr>
              <a:defRPr sz="2925" b="0">
                <a:solidFill>
                  <a:srgbClr val="CFA25D"/>
                </a:solidFill>
                <a:latin typeface="Georgia"/>
                <a:ea typeface="Georgia"/>
                <a:cs typeface="Georgia"/>
              </a:defRPr>
            </a:pPr>
            <a:r>
              <a:rPr sz="2925" b="0">
                <a:solidFill>
                  <a:srgbClr val="CFA25D"/>
                </a:solidFill>
                <a:latin typeface="Georgia"/>
                <a:ea typeface="Georgia"/>
                <a:cs typeface="Georgia"/>
              </a:rPr>
              <a:t>Build your legion.</a:t>
            </a:r>
          </a:p>
        </p:txBody>
      </p:sp>
      <p:sp>
        <p:nvSpPr>
          <p:cNvPr id="8" name="">
            <a:extLst xmlns:a="http://schemas.openxmlformats.org/drawingml/2006/main">
              <a:ext uri="{FF2B5EF4-FFF2-40B4-BE49-F238E27FC236}">
                <a16:creationId xmlns:a16="http://schemas.microsoft.com/office/drawing/2014/main" id="{29CC77BA-D125-4241-A37A-BAEFCE3DBDD3}"/>
              </a:ext>
            </a:extLst>
          </p:cNvPr>
          <p:cNvSpPr>
            <a:spLocks xmlns:a="http://schemas.openxmlformats.org/drawingml/2006/main" noGrp="1"/>
          </p:cNvSpPr>
          <p:nvPr/>
        </p:nvSpPr>
        <p:spPr>
          <a:xfrm xmlns:a="http://schemas.openxmlformats.org/drawingml/2006/main">
            <a:off x="561975" y="3790950"/>
            <a:ext cx="5905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4EAD3"/>
                </a:solidFill>
                <a:latin typeface="Arial"/>
                <a:ea typeface="Arial"/>
                <a:cs typeface="Arial"/>
              </a:defRPr>
            </a:defPPr>
          </a:lstStyle>
          <a:p xmlns:a="http://schemas.openxmlformats.org/drawingml/2006/main">
            <a:pPr>
              <a:defRPr sz="2025" b="0">
                <a:solidFill>
                  <a:srgbClr val="F4EAD3"/>
                </a:solidFill>
                <a:latin typeface="Arial"/>
                <a:ea typeface="Arial"/>
                <a:cs typeface="Arial"/>
              </a:defRPr>
            </a:pPr>
            <a:r>
              <a:rPr sz="2025" b="0">
                <a:solidFill>
                  <a:srgbClr val="F4EAD3"/>
                </a:solidFill>
                <a:latin typeface="Arial"/>
                <a:ea typeface="Arial"/>
                <a:cs typeface="Arial"/>
              </a:rPr>
              <a:t>An imperial card battler</a:t>
            </a:r>
          </a:p>
          <a:p xmlns:a="http://schemas.openxmlformats.org/drawingml/2006/main">
            <a:pPr>
              <a:defRPr sz="2025" b="0">
                <a:solidFill>
                  <a:srgbClr val="F4EAD3"/>
                </a:solidFill>
                <a:latin typeface="Arial"/>
                <a:ea typeface="Arial"/>
                <a:cs typeface="Arial"/>
              </a:defRPr>
            </a:pPr>
            <a:r>
              <a:rPr sz="2025" b="0">
                <a:solidFill>
                  <a:srgbClr val="F4EAD3"/>
                </a:solidFill>
                <a:latin typeface="Arial"/>
                <a:ea typeface="Arial"/>
                <a:cs typeface="Arial"/>
              </a:rPr>
              <a:t>where crypto culture becomes tactics.</a:t>
            </a:r>
          </a:p>
        </p:txBody>
      </p:sp>
      <p:sp>
        <p:nvSpPr>
          <p:cNvPr id="9" name="">
            <a:extLst xmlns:a="http://schemas.openxmlformats.org/drawingml/2006/main">
              <a:ext uri="{FF2B5EF4-FFF2-40B4-BE49-F238E27FC236}">
                <a16:creationId xmlns:a16="http://schemas.microsoft.com/office/drawing/2014/main" id="{4B6F35FE-47AE-4417-8B76-615F6829CCE9}"/>
              </a:ext>
            </a:extLst>
          </p:cNvPr>
          <p:cNvSpPr>
            <a:spLocks xmlns:a="http://schemas.openxmlformats.org/drawingml/2006/main" noGrp="1"/>
          </p:cNvSpPr>
          <p:nvPr/>
        </p:nvSpPr>
        <p:spPr>
          <a:xfrm xmlns:a="http://schemas.openxmlformats.org/drawingml/2006/main">
            <a:off x="561975" y="5353050"/>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4B59C"/>
                </a:solidFill>
                <a:latin typeface="Arial"/>
                <a:ea typeface="Arial"/>
                <a:cs typeface="Arial"/>
              </a:defRPr>
            </a:defPPr>
          </a:lstStyle>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99 cards   ·   9 rulers   ·   Browser play</a:t>
            </a:r>
          </a:p>
        </p:txBody>
      </p:sp>
    </p:spTree>
    <p:extLst>
      <p:ext uri="{BB962C8B-B14F-4D97-AF65-F5344CB8AC3E}">
        <p14:creationId xmlns:p14="http://schemas.microsoft.com/office/powerpoint/2010/main" val="564250627"/>
      </p:ext>
    </p:extLst>
  </p:cSld>
</p:sld>
</file>

<file path=ppt/slides/slide2.xml><?xml version="1.0" encoding="utf-8"?>
<p:sld xmlns:p="http://schemas.openxmlformats.org/presentationml/2006/main">
  <p:cSld>
    <p:bg>
      <p:bgPr>
        <a:solidFill xmlns:a="http://schemas.openxmlformats.org/drawingml/2006/main">
          <a:srgbClr val="1D171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EDDE694-F5D4-40A0-8C69-0850F480691D}"/>
              </a:ext>
            </a:extLst>
          </p:cNvPr>
          <p:cNvSpPr>
            <a:spLocks xmlns:a="http://schemas.openxmlformats.org/drawingml/2006/main" noGrp="1"/>
          </p:cNvSpPr>
          <p:nvPr/>
        </p:nvSpPr>
        <p:spPr>
          <a:xfrm xmlns:a="http://schemas.openxmlformats.org/drawingml/2006/main">
            <a:off x="533400" y="3238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CFA25D"/>
                </a:solidFill>
                <a:latin typeface="Arial"/>
                <a:ea typeface="Arial"/>
                <a:cs typeface="Arial"/>
              </a:defRPr>
            </a:defPPr>
          </a:lstStyle>
          <a:p xmlns:a="http://schemas.openxmlformats.org/drawingml/2006/main">
            <a:pPr>
              <a:defRPr sz="1200" b="1">
                <a:solidFill>
                  <a:srgbClr val="CFA25D"/>
                </a:solidFill>
                <a:latin typeface="Arial"/>
                <a:ea typeface="Arial"/>
                <a:cs typeface="Arial"/>
              </a:defRPr>
            </a:pPr>
            <a:r>
              <a:rPr sz="1200" b="1">
                <a:solidFill>
                  <a:srgbClr val="CFA25D"/>
                </a:solidFill>
                <a:latin typeface="Arial"/>
                <a:ea typeface="Arial"/>
                <a:cs typeface="Arial"/>
              </a:rPr>
              <a:t>THE IDEA</a:t>
            </a:r>
          </a:p>
        </p:txBody>
      </p:sp>
      <p:sp>
        <p:nvSpPr>
          <p:cNvPr id="2" name="">
            <a:extLst xmlns:a="http://schemas.openxmlformats.org/drawingml/2006/main">
              <a:ext uri="{FF2B5EF4-FFF2-40B4-BE49-F238E27FC236}">
                <a16:creationId xmlns:a16="http://schemas.microsoft.com/office/drawing/2014/main" id="{0727649B-0D05-497D-AEDB-2FC480702336}"/>
              </a:ext>
            </a:extLst>
          </p:cNvPr>
          <p:cNvSpPr>
            <a:spLocks xmlns:a="http://schemas.openxmlformats.org/drawingml/2006/main" noGrp="1"/>
          </p:cNvSpPr>
          <p:nvPr/>
        </p:nvSpPr>
        <p:spPr>
          <a:xfrm xmlns:a="http://schemas.openxmlformats.org/drawingml/2006/main">
            <a:off x="533400" y="742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F4EAD3"/>
                </a:solidFill>
                <a:latin typeface="Georgia"/>
                <a:ea typeface="Georgia"/>
                <a:cs typeface="Georgia"/>
              </a:defRPr>
            </a:defPPr>
          </a:lstStyle>
          <a:p xmlns:a="http://schemas.openxmlformats.org/drawingml/2006/main">
            <a:pPr>
              <a:defRPr sz="3450" b="0">
                <a:solidFill>
                  <a:srgbClr val="F4EAD3"/>
                </a:solidFill>
                <a:latin typeface="Georgia"/>
                <a:ea typeface="Georgia"/>
                <a:cs typeface="Georgia"/>
              </a:defRPr>
            </a:pPr>
            <a:r>
              <a:rPr sz="3450" b="0">
                <a:solidFill>
                  <a:srgbClr val="F4EAD3"/>
                </a:solidFill>
                <a:latin typeface="Georgia"/>
                <a:ea typeface="Georgia"/>
                <a:cs typeface="Georgia"/>
              </a:rPr>
              <a:t>Crypto culture becomes tactics</a:t>
            </a:r>
          </a:p>
        </p:txBody>
      </p:sp>
      <p:sp>
        <p:nvSpPr>
          <p:cNvPr id="3" name="">
            <a:extLst xmlns:a="http://schemas.openxmlformats.org/drawingml/2006/main">
              <a:ext uri="{FF2B5EF4-FFF2-40B4-BE49-F238E27FC236}">
                <a16:creationId xmlns:a16="http://schemas.microsoft.com/office/drawing/2014/main" id="{C947306D-4DD7-4686-A572-A0B01C1FC11A}"/>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644C31"/>
          </a:solidFill>
          <a:ln xmlns:a="http://schemas.openxmlformats.org/drawingml/2006/main" w="9525">
            <a:solidFill>
              <a:srgbClr val="644C31"/>
            </a:solidFill>
          </a:ln>
        </p:spPr>
      </p:sp>
      <p:sp>
        <p:nvSpPr>
          <p:cNvPr id="4" name="">
            <a:extLst xmlns:a="http://schemas.openxmlformats.org/drawingml/2006/main">
              <a:ext uri="{FF2B5EF4-FFF2-40B4-BE49-F238E27FC236}">
                <a16:creationId xmlns:a16="http://schemas.microsoft.com/office/drawing/2014/main" id="{7D164DF6-CDC2-405A-B4EF-ABE88A16A6EF}"/>
              </a:ext>
            </a:extLst>
          </p:cNvPr>
          <p:cNvSpPr>
            <a:spLocks xmlns:a="http://schemas.openxmlformats.org/drawingml/2006/main" noGrp="1"/>
          </p:cNvSpPr>
          <p:nvPr/>
        </p:nvSpPr>
        <p:spPr>
          <a:xfrm xmlns:a="http://schemas.openxmlformats.org/drawingml/2006/main">
            <a:off x="533400" y="6457950"/>
            <a:ext cx="609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IMPERIVM  /  CRYPTO WORLD’S FAIR</a:t>
            </a:r>
          </a:p>
        </p:txBody>
      </p:sp>
      <p:sp>
        <p:nvSpPr>
          <p:cNvPr id="5" name="">
            <a:extLst xmlns:a="http://schemas.openxmlformats.org/drawingml/2006/main">
              <a:ext uri="{FF2B5EF4-FFF2-40B4-BE49-F238E27FC236}">
                <a16:creationId xmlns:a16="http://schemas.microsoft.com/office/drawing/2014/main" id="{F5230D3E-D90A-4BC5-94E6-794F596AA788}"/>
              </a:ext>
            </a:extLst>
          </p:cNvPr>
          <p:cNvSpPr>
            <a:spLocks xmlns:a="http://schemas.openxmlformats.org/drawingml/2006/main" noGrp="1"/>
          </p:cNvSpPr>
          <p:nvPr/>
        </p:nvSpPr>
        <p:spPr>
          <a:xfrm xmlns:a="http://schemas.openxmlformats.org/drawingml/2006/main">
            <a:off x="8286750" y="6457950"/>
            <a:ext cx="3371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Hackathon draft · 9 Oct 2026  /  2</a:t>
            </a:r>
          </a:p>
        </p:txBody>
      </p:sp>
      <p:pic>
        <p:nvPicPr>
          <p:cNvPr id="6" name="">
            <a:extLst xmlns:a="http://schemas.openxmlformats.org/drawingml/2006/main">
              <a:ext uri="{FF2B5EF4-FFF2-40B4-BE49-F238E27FC236}">
                <a16:creationId xmlns:a16="http://schemas.microsoft.com/office/drawing/2014/main" id="{AC49E3D3-E8A5-4F54-BAD7-CC5E411FB084}"/>
              </a:ext>
            </a:extLst>
          </p:cNvPr>
          <p:cNvPicPr>
            <a:picLocks xmlns:a="http://schemas.openxmlformats.org/drawingml/2006/main" noChangeAspect="1"/>
          </p:cNvPicPr>
          <p:nvPr/>
        </p:nvPicPr>
        <p:blipFill>
          <a:blip xmlns:r="http://schemas.openxmlformats.org/officeDocument/2006/relationships" xmlns:a="http://schemas.openxmlformats.org/drawingml/2006/main" r:embed="R7a8d970f46804fa5"/>
          <a:srcRect xmlns:a="http://schemas.openxmlformats.org/drawingml/2006/main" l="0" t="3488" r="0" b="3488"/>
          <a:stretch xmlns:a="http://schemas.openxmlformats.org/drawingml/2006/main">
            <a:fillRect l="0" t="0" r="0" b="0"/>
          </a:stretch>
        </p:blipFill>
        <p:spPr>
          <a:xfrm xmlns:a="http://schemas.openxmlformats.org/drawingml/2006/main">
            <a:off x="8382000" y="1628775"/>
            <a:ext cx="3276600" cy="4572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6947DC8-F70D-441B-BDE1-F359437D224F}"/>
              </a:ext>
            </a:extLst>
          </p:cNvPr>
          <p:cNvSpPr>
            <a:spLocks xmlns:a="http://schemas.openxmlformats.org/drawingml/2006/main" noGrp="1"/>
          </p:cNvSpPr>
          <p:nvPr/>
        </p:nvSpPr>
        <p:spPr>
          <a:xfrm xmlns:a="http://schemas.openxmlformats.org/drawingml/2006/main">
            <a:off x="533400" y="17430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CFA25D"/>
                </a:solidFill>
                <a:latin typeface="Georgia"/>
                <a:ea typeface="Georgia"/>
                <a:cs typeface="Georgia"/>
              </a:defRPr>
            </a:defPPr>
          </a:lstStyle>
          <a:p xmlns:a="http://schemas.openxmlformats.org/drawingml/2006/main">
            <a:pPr>
              <a:defRPr sz="2475" b="0">
                <a:solidFill>
                  <a:srgbClr val="CFA25D"/>
                </a:solidFill>
                <a:latin typeface="Georgia"/>
                <a:ea typeface="Georgia"/>
                <a:cs typeface="Georgia"/>
              </a:defRPr>
            </a:pPr>
            <a:r>
              <a:rPr sz="2475" b="0">
                <a:solidFill>
                  <a:srgbClr val="CFA25D"/>
                </a:solidFill>
                <a:latin typeface="Georgia"/>
                <a:ea typeface="Georgia"/>
                <a:cs typeface="Georgia"/>
              </a:rPr>
              <a:t>01</a:t>
            </a:r>
          </a:p>
        </p:txBody>
      </p:sp>
      <p:sp>
        <p:nvSpPr>
          <p:cNvPr id="8" name="">
            <a:extLst xmlns:a="http://schemas.openxmlformats.org/drawingml/2006/main">
              <a:ext uri="{FF2B5EF4-FFF2-40B4-BE49-F238E27FC236}">
                <a16:creationId xmlns:a16="http://schemas.microsoft.com/office/drawing/2014/main" id="{CABAF86A-64DA-4753-8EF7-99E09C7DC20E}"/>
              </a:ext>
            </a:extLst>
          </p:cNvPr>
          <p:cNvSpPr>
            <a:spLocks xmlns:a="http://schemas.openxmlformats.org/drawingml/2006/main" noGrp="1"/>
          </p:cNvSpPr>
          <p:nvPr/>
        </p:nvSpPr>
        <p:spPr>
          <a:xfrm xmlns:a="http://schemas.openxmlformats.org/drawingml/2006/main">
            <a:off x="1343025" y="1743075"/>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F4EAD3"/>
                </a:solidFill>
                <a:latin typeface="Arial"/>
                <a:ea typeface="Arial"/>
                <a:cs typeface="Arial"/>
              </a:defRPr>
            </a:defPPr>
          </a:lstStyle>
          <a:p xmlns:a="http://schemas.openxmlformats.org/drawingml/2006/main">
            <a:pPr>
              <a:defRPr sz="2100" b="1">
                <a:solidFill>
                  <a:srgbClr val="F4EAD3"/>
                </a:solidFill>
                <a:latin typeface="Arial"/>
                <a:ea typeface="Arial"/>
                <a:cs typeface="Arial"/>
              </a:defRPr>
            </a:pPr>
            <a:r>
              <a:rPr sz="2100" b="1">
                <a:solidFill>
                  <a:srgbClr val="F4EAD3"/>
                </a:solidFill>
                <a:latin typeface="Arial"/>
                <a:ea typeface="Arial"/>
                <a:cs typeface="Arial"/>
              </a:rPr>
              <a:t>Read the public queue</a:t>
            </a:r>
          </a:p>
        </p:txBody>
      </p:sp>
      <p:sp>
        <p:nvSpPr>
          <p:cNvPr id="9" name="">
            <a:extLst xmlns:a="http://schemas.openxmlformats.org/drawingml/2006/main">
              <a:ext uri="{FF2B5EF4-FFF2-40B4-BE49-F238E27FC236}">
                <a16:creationId xmlns:a16="http://schemas.microsoft.com/office/drawing/2014/main" id="{A45E5A49-FF08-46B6-93DB-527071197E55}"/>
              </a:ext>
            </a:extLst>
          </p:cNvPr>
          <p:cNvSpPr>
            <a:spLocks xmlns:a="http://schemas.openxmlformats.org/drawingml/2006/main" noGrp="1"/>
          </p:cNvSpPr>
          <p:nvPr/>
        </p:nvSpPr>
        <p:spPr>
          <a:xfrm xmlns:a="http://schemas.openxmlformats.org/drawingml/2006/main">
            <a:off x="1343025" y="220027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4B59C"/>
                </a:solidFill>
                <a:latin typeface="Arial"/>
                <a:ea typeface="Arial"/>
                <a:cs typeface="Arial"/>
              </a:defRPr>
            </a:defPPr>
          </a:lstStyle>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Delayed edicts reveal what is coming.</a:t>
            </a:r>
          </a:p>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Choose when to commit or respond.</a:t>
            </a:r>
          </a:p>
        </p:txBody>
      </p:sp>
      <p:sp>
        <p:nvSpPr>
          <p:cNvPr id="10" name="">
            <a:extLst xmlns:a="http://schemas.openxmlformats.org/drawingml/2006/main">
              <a:ext uri="{FF2B5EF4-FFF2-40B4-BE49-F238E27FC236}">
                <a16:creationId xmlns:a16="http://schemas.microsoft.com/office/drawing/2014/main" id="{61335965-EE46-4331-95AC-EBB251199C40}"/>
              </a:ext>
            </a:extLst>
          </p:cNvPr>
          <p:cNvSpPr>
            <a:spLocks xmlns:a="http://schemas.openxmlformats.org/drawingml/2006/main" noGrp="1"/>
          </p:cNvSpPr>
          <p:nvPr/>
        </p:nvSpPr>
        <p:spPr>
          <a:xfrm xmlns:a="http://schemas.openxmlformats.org/drawingml/2006/main">
            <a:off x="533400" y="31718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CFA25D"/>
                </a:solidFill>
                <a:latin typeface="Georgia"/>
                <a:ea typeface="Georgia"/>
                <a:cs typeface="Georgia"/>
              </a:defRPr>
            </a:defPPr>
          </a:lstStyle>
          <a:p xmlns:a="http://schemas.openxmlformats.org/drawingml/2006/main">
            <a:pPr>
              <a:defRPr sz="2475" b="0">
                <a:solidFill>
                  <a:srgbClr val="CFA25D"/>
                </a:solidFill>
                <a:latin typeface="Georgia"/>
                <a:ea typeface="Georgia"/>
                <a:cs typeface="Georgia"/>
              </a:defRPr>
            </a:pPr>
            <a:r>
              <a:rPr sz="2475" b="0">
                <a:solidFill>
                  <a:srgbClr val="CFA25D"/>
                </a:solidFill>
                <a:latin typeface="Georgia"/>
                <a:ea typeface="Georgia"/>
                <a:cs typeface="Georgia"/>
              </a:rPr>
              <a:t>02</a:t>
            </a:r>
          </a:p>
        </p:txBody>
      </p:sp>
      <p:sp>
        <p:nvSpPr>
          <p:cNvPr id="11" name="">
            <a:extLst xmlns:a="http://schemas.openxmlformats.org/drawingml/2006/main">
              <a:ext uri="{FF2B5EF4-FFF2-40B4-BE49-F238E27FC236}">
                <a16:creationId xmlns:a16="http://schemas.microsoft.com/office/drawing/2014/main" id="{6F5FAF36-439F-4008-966A-EF2D65C6FC94}"/>
              </a:ext>
            </a:extLst>
          </p:cNvPr>
          <p:cNvSpPr>
            <a:spLocks xmlns:a="http://schemas.openxmlformats.org/drawingml/2006/main" noGrp="1"/>
          </p:cNvSpPr>
          <p:nvPr/>
        </p:nvSpPr>
        <p:spPr>
          <a:xfrm xmlns:a="http://schemas.openxmlformats.org/drawingml/2006/main">
            <a:off x="1343025" y="3171825"/>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F4EAD3"/>
                </a:solidFill>
                <a:latin typeface="Arial"/>
                <a:ea typeface="Arial"/>
                <a:cs typeface="Arial"/>
              </a:defRPr>
            </a:defPPr>
          </a:lstStyle>
          <a:p xmlns:a="http://schemas.openxmlformats.org/drawingml/2006/main">
            <a:pPr>
              <a:defRPr sz="2100" b="1">
                <a:solidFill>
                  <a:srgbClr val="F4EAD3"/>
                </a:solidFill>
                <a:latin typeface="Arial"/>
                <a:ea typeface="Arial"/>
                <a:cs typeface="Arial"/>
              </a:defRPr>
            </a:pPr>
            <a:r>
              <a:rPr sz="2100" b="1">
                <a:solidFill>
                  <a:srgbClr val="F4EAD3"/>
                </a:solidFill>
                <a:latin typeface="Arial"/>
                <a:ea typeface="Arial"/>
                <a:cs typeface="Arial"/>
              </a:rPr>
              <a:t>Trade pressure for resources</a:t>
            </a:r>
          </a:p>
        </p:txBody>
      </p:sp>
      <p:sp>
        <p:nvSpPr>
          <p:cNvPr id="12" name="">
            <a:extLst xmlns:a="http://schemas.openxmlformats.org/drawingml/2006/main">
              <a:ext uri="{FF2B5EF4-FFF2-40B4-BE49-F238E27FC236}">
                <a16:creationId xmlns:a16="http://schemas.microsoft.com/office/drawing/2014/main" id="{C29E9BE4-A542-4D0E-A2B0-480ACB7EA7C5}"/>
              </a:ext>
            </a:extLst>
          </p:cNvPr>
          <p:cNvSpPr>
            <a:spLocks xmlns:a="http://schemas.openxmlformats.org/drawingml/2006/main" noGrp="1"/>
          </p:cNvSpPr>
          <p:nvPr/>
        </p:nvSpPr>
        <p:spPr>
          <a:xfrm xmlns:a="http://schemas.openxmlformats.org/drawingml/2006/main">
            <a:off x="1343025" y="362902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4B59C"/>
                </a:solidFill>
                <a:latin typeface="Arial"/>
                <a:ea typeface="Arial"/>
                <a:cs typeface="Arial"/>
              </a:defRPr>
            </a:defPPr>
          </a:lstStyle>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Garrison a fighter to earn orders.</a:t>
            </a:r>
          </a:p>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That fighter gives up its attack.</a:t>
            </a:r>
          </a:p>
        </p:txBody>
      </p:sp>
      <p:sp>
        <p:nvSpPr>
          <p:cNvPr id="13" name="">
            <a:extLst xmlns:a="http://schemas.openxmlformats.org/drawingml/2006/main">
              <a:ext uri="{FF2B5EF4-FFF2-40B4-BE49-F238E27FC236}">
                <a16:creationId xmlns:a16="http://schemas.microsoft.com/office/drawing/2014/main" id="{925028AE-AC93-4671-80EF-4D62B15C6A75}"/>
              </a:ext>
            </a:extLst>
          </p:cNvPr>
          <p:cNvSpPr>
            <a:spLocks xmlns:a="http://schemas.openxmlformats.org/drawingml/2006/main" noGrp="1"/>
          </p:cNvSpPr>
          <p:nvPr/>
        </p:nvSpPr>
        <p:spPr>
          <a:xfrm xmlns:a="http://schemas.openxmlformats.org/drawingml/2006/main">
            <a:off x="533400" y="46005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CFA25D"/>
                </a:solidFill>
                <a:latin typeface="Georgia"/>
                <a:ea typeface="Georgia"/>
                <a:cs typeface="Georgia"/>
              </a:defRPr>
            </a:defPPr>
          </a:lstStyle>
          <a:p xmlns:a="http://schemas.openxmlformats.org/drawingml/2006/main">
            <a:pPr>
              <a:defRPr sz="2475" b="0">
                <a:solidFill>
                  <a:srgbClr val="CFA25D"/>
                </a:solidFill>
                <a:latin typeface="Georgia"/>
                <a:ea typeface="Georgia"/>
                <a:cs typeface="Georgia"/>
              </a:defRPr>
            </a:pPr>
            <a:r>
              <a:rPr sz="2475" b="0">
                <a:solidFill>
                  <a:srgbClr val="CFA25D"/>
                </a:solidFill>
                <a:latin typeface="Georgia"/>
                <a:ea typeface="Georgia"/>
                <a:cs typeface="Georgia"/>
              </a:rPr>
              <a:t>03</a:t>
            </a:r>
          </a:p>
        </p:txBody>
      </p:sp>
      <p:sp>
        <p:nvSpPr>
          <p:cNvPr id="14" name="">
            <a:extLst xmlns:a="http://schemas.openxmlformats.org/drawingml/2006/main">
              <a:ext uri="{FF2B5EF4-FFF2-40B4-BE49-F238E27FC236}">
                <a16:creationId xmlns:a16="http://schemas.microsoft.com/office/drawing/2014/main" id="{B232CE32-5ED5-4471-A6FA-5C274E2E1885}"/>
              </a:ext>
            </a:extLst>
          </p:cNvPr>
          <p:cNvSpPr>
            <a:spLocks xmlns:a="http://schemas.openxmlformats.org/drawingml/2006/main" noGrp="1"/>
          </p:cNvSpPr>
          <p:nvPr/>
        </p:nvSpPr>
        <p:spPr>
          <a:xfrm xmlns:a="http://schemas.openxmlformats.org/drawingml/2006/main">
            <a:off x="1343025" y="4600575"/>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F4EAD3"/>
                </a:solidFill>
                <a:latin typeface="Arial"/>
                <a:ea typeface="Arial"/>
                <a:cs typeface="Arial"/>
              </a:defRPr>
            </a:defPPr>
          </a:lstStyle>
          <a:p xmlns:a="http://schemas.openxmlformats.org/drawingml/2006/main">
            <a:pPr>
              <a:defRPr sz="2100" b="1">
                <a:solidFill>
                  <a:srgbClr val="F4EAD3"/>
                </a:solidFill>
                <a:latin typeface="Arial"/>
                <a:ea typeface="Arial"/>
                <a:cs typeface="Arial"/>
              </a:defRPr>
            </a:pPr>
            <a:r>
              <a:rPr sz="2100" b="1">
                <a:solidFill>
                  <a:srgbClr val="F4EAD3"/>
                </a:solidFill>
                <a:latin typeface="Arial"/>
                <a:ea typeface="Arial"/>
                <a:cs typeface="Arial"/>
              </a:rPr>
              <a:t>Build conditional combinations</a:t>
            </a:r>
          </a:p>
        </p:txBody>
      </p:sp>
      <p:sp>
        <p:nvSpPr>
          <p:cNvPr id="15" name="">
            <a:extLst xmlns:a="http://schemas.openxmlformats.org/drawingml/2006/main">
              <a:ext uri="{FF2B5EF4-FFF2-40B4-BE49-F238E27FC236}">
                <a16:creationId xmlns:a16="http://schemas.microsoft.com/office/drawing/2014/main" id="{4CDC5554-2ACF-4292-8503-098C8A4EE52B}"/>
              </a:ext>
            </a:extLst>
          </p:cNvPr>
          <p:cNvSpPr>
            <a:spLocks xmlns:a="http://schemas.openxmlformats.org/drawingml/2006/main" noGrp="1"/>
          </p:cNvSpPr>
          <p:nvPr/>
        </p:nvSpPr>
        <p:spPr>
          <a:xfrm xmlns:a="http://schemas.openxmlformats.org/drawingml/2006/main">
            <a:off x="1343025" y="505777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4B59C"/>
                </a:solidFill>
                <a:latin typeface="Arial"/>
                <a:ea typeface="Arial"/>
                <a:cs typeface="Arial"/>
              </a:defRPr>
            </a:defPPr>
          </a:lstStyle>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DeFi, NFT, DePIN and meme cards</a:t>
            </a:r>
          </a:p>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reward different sequences and formations.</a:t>
            </a:r>
          </a:p>
        </p:txBody>
      </p:sp>
    </p:spTree>
    <p:extLst>
      <p:ext uri="{BB962C8B-B14F-4D97-AF65-F5344CB8AC3E}">
        <p14:creationId xmlns:p14="http://schemas.microsoft.com/office/powerpoint/2010/main" val="303057535"/>
      </p:ext>
    </p:extLst>
  </p:cSld>
</p:sld>
</file>

<file path=ppt/slides/slide3.xml><?xml version="1.0" encoding="utf-8"?>
<p:sld xmlns:p="http://schemas.openxmlformats.org/presentationml/2006/main">
  <p:cSld>
    <p:bg>
      <p:bgPr>
        <a:solidFill xmlns:a="http://schemas.openxmlformats.org/drawingml/2006/main">
          <a:srgbClr val="1D171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A23792-098A-44CE-A24F-9B869923EB01}"/>
              </a:ext>
            </a:extLst>
          </p:cNvPr>
          <p:cNvSpPr>
            <a:spLocks xmlns:a="http://schemas.openxmlformats.org/drawingml/2006/main" noGrp="1"/>
          </p:cNvSpPr>
          <p:nvPr/>
        </p:nvSpPr>
        <p:spPr>
          <a:xfrm xmlns:a="http://schemas.openxmlformats.org/drawingml/2006/main">
            <a:off x="533400" y="3238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CFA25D"/>
                </a:solidFill>
                <a:latin typeface="Arial"/>
                <a:ea typeface="Arial"/>
                <a:cs typeface="Arial"/>
              </a:defRPr>
            </a:defPPr>
          </a:lstStyle>
          <a:p xmlns:a="http://schemas.openxmlformats.org/drawingml/2006/main">
            <a:pPr>
              <a:defRPr sz="1200" b="1">
                <a:solidFill>
                  <a:srgbClr val="CFA25D"/>
                </a:solidFill>
                <a:latin typeface="Arial"/>
                <a:ea typeface="Arial"/>
                <a:cs typeface="Arial"/>
              </a:defRPr>
            </a:pPr>
            <a:r>
              <a:rPr sz="1200" b="1">
                <a:solidFill>
                  <a:srgbClr val="CFA25D"/>
                </a:solidFill>
                <a:latin typeface="Arial"/>
                <a:ea typeface="Arial"/>
                <a:cs typeface="Arial"/>
              </a:rPr>
              <a:t>THE DUEL</a:t>
            </a:r>
          </a:p>
        </p:txBody>
      </p:sp>
      <p:sp>
        <p:nvSpPr>
          <p:cNvPr id="2" name="">
            <a:extLst xmlns:a="http://schemas.openxmlformats.org/drawingml/2006/main">
              <a:ext uri="{FF2B5EF4-FFF2-40B4-BE49-F238E27FC236}">
                <a16:creationId xmlns:a16="http://schemas.microsoft.com/office/drawing/2014/main" id="{D7C0DAD7-7338-4A66-99F4-2103ACC92521}"/>
              </a:ext>
            </a:extLst>
          </p:cNvPr>
          <p:cNvSpPr>
            <a:spLocks xmlns:a="http://schemas.openxmlformats.org/drawingml/2006/main" noGrp="1"/>
          </p:cNvSpPr>
          <p:nvPr/>
        </p:nvSpPr>
        <p:spPr>
          <a:xfrm xmlns:a="http://schemas.openxmlformats.org/drawingml/2006/main">
            <a:off x="533400" y="742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F4EAD3"/>
                </a:solidFill>
                <a:latin typeface="Georgia"/>
                <a:ea typeface="Georgia"/>
                <a:cs typeface="Georgia"/>
              </a:defRPr>
            </a:defPPr>
          </a:lstStyle>
          <a:p xmlns:a="http://schemas.openxmlformats.org/drawingml/2006/main">
            <a:pPr>
              <a:defRPr sz="3450" b="0">
                <a:solidFill>
                  <a:srgbClr val="F4EAD3"/>
                </a:solidFill>
                <a:latin typeface="Georgia"/>
                <a:ea typeface="Georgia"/>
                <a:cs typeface="Georgia"/>
              </a:defRPr>
            </a:pPr>
            <a:r>
              <a:rPr sz="3450" b="0">
                <a:solidFill>
                  <a:srgbClr val="F4EAD3"/>
                </a:solidFill>
                <a:latin typeface="Georgia"/>
                <a:ea typeface="Georgia"/>
                <a:cs typeface="Georgia"/>
              </a:rPr>
              <a:t>A working imperial arena</a:t>
            </a:r>
          </a:p>
        </p:txBody>
      </p:sp>
      <p:sp>
        <p:nvSpPr>
          <p:cNvPr id="3" name="">
            <a:extLst xmlns:a="http://schemas.openxmlformats.org/drawingml/2006/main">
              <a:ext uri="{FF2B5EF4-FFF2-40B4-BE49-F238E27FC236}">
                <a16:creationId xmlns:a16="http://schemas.microsoft.com/office/drawing/2014/main" id="{F782CB50-3AAF-453B-8330-78E7119F3F93}"/>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644C31"/>
          </a:solidFill>
          <a:ln xmlns:a="http://schemas.openxmlformats.org/drawingml/2006/main" w="9525">
            <a:solidFill>
              <a:srgbClr val="644C31"/>
            </a:solidFill>
          </a:ln>
        </p:spPr>
      </p:sp>
      <p:sp>
        <p:nvSpPr>
          <p:cNvPr id="4" name="">
            <a:extLst xmlns:a="http://schemas.openxmlformats.org/drawingml/2006/main">
              <a:ext uri="{FF2B5EF4-FFF2-40B4-BE49-F238E27FC236}">
                <a16:creationId xmlns:a16="http://schemas.microsoft.com/office/drawing/2014/main" id="{8A4FF957-321C-4655-BE44-46AD05AFF226}"/>
              </a:ext>
            </a:extLst>
          </p:cNvPr>
          <p:cNvSpPr>
            <a:spLocks xmlns:a="http://schemas.openxmlformats.org/drawingml/2006/main" noGrp="1"/>
          </p:cNvSpPr>
          <p:nvPr/>
        </p:nvSpPr>
        <p:spPr>
          <a:xfrm xmlns:a="http://schemas.openxmlformats.org/drawingml/2006/main">
            <a:off x="533400" y="6457950"/>
            <a:ext cx="609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IMPERIVM  /  CRYPTO WORLD’S FAIR</a:t>
            </a:r>
          </a:p>
        </p:txBody>
      </p:sp>
      <p:sp>
        <p:nvSpPr>
          <p:cNvPr id="5" name="">
            <a:extLst xmlns:a="http://schemas.openxmlformats.org/drawingml/2006/main">
              <a:ext uri="{FF2B5EF4-FFF2-40B4-BE49-F238E27FC236}">
                <a16:creationId xmlns:a16="http://schemas.microsoft.com/office/drawing/2014/main" id="{76F1C228-4547-45A0-9452-2FF8A05389A5}"/>
              </a:ext>
            </a:extLst>
          </p:cNvPr>
          <p:cNvSpPr>
            <a:spLocks xmlns:a="http://schemas.openxmlformats.org/drawingml/2006/main" noGrp="1"/>
          </p:cNvSpPr>
          <p:nvPr/>
        </p:nvSpPr>
        <p:spPr>
          <a:xfrm xmlns:a="http://schemas.openxmlformats.org/drawingml/2006/main">
            <a:off x="8286750" y="6457950"/>
            <a:ext cx="3371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Hackathon draft · 9 Oct 2026  /  3</a:t>
            </a:r>
          </a:p>
        </p:txBody>
      </p:sp>
      <p:sp>
        <p:nvSpPr>
          <p:cNvPr id="6" name="">
            <a:extLst xmlns:a="http://schemas.openxmlformats.org/drawingml/2006/main">
              <a:ext uri="{FF2B5EF4-FFF2-40B4-BE49-F238E27FC236}">
                <a16:creationId xmlns:a16="http://schemas.microsoft.com/office/drawing/2014/main" id="{2122C7CC-37E1-4ECD-956B-6A10E9A0437D}"/>
              </a:ext>
            </a:extLst>
          </p:cNvPr>
          <p:cNvSpPr>
            <a:spLocks xmlns:a="http://schemas.openxmlformats.org/drawingml/2006/main" noGrp="1"/>
          </p:cNvSpPr>
          <p:nvPr/>
        </p:nvSpPr>
        <p:spPr>
          <a:xfrm xmlns:a="http://schemas.openxmlformats.org/drawingml/2006/main">
            <a:off x="1695450" y="1495425"/>
            <a:ext cx="8801100" cy="4762500"/>
          </a:xfrm>
          <a:prstGeom xmlns:a="http://schemas.openxmlformats.org/drawingml/2006/main" prst="rect">
            <a:avLst/>
          </a:prstGeom>
          <a:solidFill xmlns:a="http://schemas.openxmlformats.org/drawingml/2006/main">
            <a:srgbClr val="2C211B"/>
          </a:solidFill>
          <a:ln xmlns:a="http://schemas.openxmlformats.org/drawingml/2006/main" w="9525">
            <a:solidFill>
              <a:srgbClr val="CFA25D"/>
            </a:solidFill>
          </a:ln>
        </p:spPr>
      </p:sp>
      <p:pic>
        <p:nvPicPr>
          <p:cNvPr id="7" name="">
            <a:extLst xmlns:a="http://schemas.openxmlformats.org/drawingml/2006/main">
              <a:ext uri="{FF2B5EF4-FFF2-40B4-BE49-F238E27FC236}">
                <a16:creationId xmlns:a16="http://schemas.microsoft.com/office/drawing/2014/main" id="{3477A5C4-9B59-4A53-9585-D3914CDC15A2}"/>
              </a:ext>
            </a:extLst>
          </p:cNvPr>
          <p:cNvPicPr>
            <a:picLocks xmlns:a="http://schemas.openxmlformats.org/drawingml/2006/main" noChangeAspect="1"/>
          </p:cNvPicPr>
          <p:nvPr/>
        </p:nvPicPr>
        <p:blipFill>
          <a:blip xmlns:r="http://schemas.openxmlformats.org/officeDocument/2006/relationships" xmlns:a="http://schemas.openxmlformats.org/drawingml/2006/main" r:embed="Rc3a38a2a38f54e3f"/>
          <a:stretch xmlns:a="http://schemas.openxmlformats.org/drawingml/2006/main"/>
        </p:blipFill>
        <p:spPr>
          <a:xfrm xmlns:a="http://schemas.openxmlformats.org/drawingml/2006/main">
            <a:off x="1896533" y="1514475"/>
            <a:ext cx="8398933" cy="4724400"/>
          </a:xfrm>
          <a:prstGeom xmlns:a="http://schemas.openxmlformats.org/drawingml/2006/main" prst="rect">
            <a:avLst/>
          </a:prstGeom>
        </p:spPr>
      </p:pic>
    </p:spTree>
    <p:extLst>
      <p:ext uri="{BB962C8B-B14F-4D97-AF65-F5344CB8AC3E}">
        <p14:creationId xmlns:p14="http://schemas.microsoft.com/office/powerpoint/2010/main" val="1912801410"/>
      </p:ext>
    </p:extLst>
  </p:cSld>
</p:sld>
</file>

<file path=ppt/slides/slide4.xml><?xml version="1.0" encoding="utf-8"?>
<p:sld xmlns:p="http://schemas.openxmlformats.org/presentationml/2006/main">
  <p:cSld>
    <p:bg>
      <p:bgPr>
        <a:solidFill xmlns:a="http://schemas.openxmlformats.org/drawingml/2006/main">
          <a:srgbClr val="1D171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C885458-855F-4EB6-91BD-917B14897998}"/>
              </a:ext>
            </a:extLst>
          </p:cNvPr>
          <p:cNvSpPr>
            <a:spLocks xmlns:a="http://schemas.openxmlformats.org/drawingml/2006/main" noGrp="1"/>
          </p:cNvSpPr>
          <p:nvPr/>
        </p:nvSpPr>
        <p:spPr>
          <a:xfrm xmlns:a="http://schemas.openxmlformats.org/drawingml/2006/main">
            <a:off x="533400" y="3238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CFA25D"/>
                </a:solidFill>
                <a:latin typeface="Arial"/>
                <a:ea typeface="Arial"/>
                <a:cs typeface="Arial"/>
              </a:defRPr>
            </a:defPPr>
          </a:lstStyle>
          <a:p xmlns:a="http://schemas.openxmlformats.org/drawingml/2006/main">
            <a:pPr>
              <a:defRPr sz="1200" b="1">
                <a:solidFill>
                  <a:srgbClr val="CFA25D"/>
                </a:solidFill>
                <a:latin typeface="Arial"/>
                <a:ea typeface="Arial"/>
                <a:cs typeface="Arial"/>
              </a:defRPr>
            </a:pPr>
            <a:r>
              <a:rPr sz="1200" b="1">
                <a:solidFill>
                  <a:srgbClr val="CFA25D"/>
                </a:solidFill>
                <a:latin typeface="Arial"/>
                <a:ea typeface="Arial"/>
                <a:cs typeface="Arial"/>
              </a:rPr>
              <a:t>COLLECTION &amp; DECK BUILDING</a:t>
            </a:r>
          </a:p>
        </p:txBody>
      </p:sp>
      <p:sp>
        <p:nvSpPr>
          <p:cNvPr id="2" name="">
            <a:extLst xmlns:a="http://schemas.openxmlformats.org/drawingml/2006/main">
              <a:ext uri="{FF2B5EF4-FFF2-40B4-BE49-F238E27FC236}">
                <a16:creationId xmlns:a16="http://schemas.microsoft.com/office/drawing/2014/main" id="{7BE7E1B1-139C-499A-B702-DB1F8E8F9504}"/>
              </a:ext>
            </a:extLst>
          </p:cNvPr>
          <p:cNvSpPr>
            <a:spLocks xmlns:a="http://schemas.openxmlformats.org/drawingml/2006/main" noGrp="1"/>
          </p:cNvSpPr>
          <p:nvPr/>
        </p:nvSpPr>
        <p:spPr>
          <a:xfrm xmlns:a="http://schemas.openxmlformats.org/drawingml/2006/main">
            <a:off x="533400" y="742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F4EAD3"/>
                </a:solidFill>
                <a:latin typeface="Georgia"/>
                <a:ea typeface="Georgia"/>
                <a:cs typeface="Georgia"/>
              </a:defRPr>
            </a:defPPr>
          </a:lstStyle>
          <a:p xmlns:a="http://schemas.openxmlformats.org/drawingml/2006/main">
            <a:pPr>
              <a:defRPr sz="3450" b="0">
                <a:solidFill>
                  <a:srgbClr val="F4EAD3"/>
                </a:solidFill>
                <a:latin typeface="Georgia"/>
                <a:ea typeface="Georgia"/>
                <a:cs typeface="Georgia"/>
              </a:defRPr>
            </a:pPr>
            <a:r>
              <a:rPr sz="3450" b="0">
                <a:solidFill>
                  <a:srgbClr val="F4EAD3"/>
                </a:solidFill>
                <a:latin typeface="Georgia"/>
                <a:ea typeface="Georgia"/>
                <a:cs typeface="Georgia"/>
              </a:rPr>
              <a:t>Collect cards. Build a formation.</a:t>
            </a:r>
          </a:p>
        </p:txBody>
      </p:sp>
      <p:sp>
        <p:nvSpPr>
          <p:cNvPr id="3" name="">
            <a:extLst xmlns:a="http://schemas.openxmlformats.org/drawingml/2006/main">
              <a:ext uri="{FF2B5EF4-FFF2-40B4-BE49-F238E27FC236}">
                <a16:creationId xmlns:a16="http://schemas.microsoft.com/office/drawing/2014/main" id="{8C7B8948-08AB-4D89-A466-904E1A3DD7D1}"/>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644C31"/>
          </a:solidFill>
          <a:ln xmlns:a="http://schemas.openxmlformats.org/drawingml/2006/main" w="9525">
            <a:solidFill>
              <a:srgbClr val="644C31"/>
            </a:solidFill>
          </a:ln>
        </p:spPr>
      </p:sp>
      <p:sp>
        <p:nvSpPr>
          <p:cNvPr id="4" name="">
            <a:extLst xmlns:a="http://schemas.openxmlformats.org/drawingml/2006/main">
              <a:ext uri="{FF2B5EF4-FFF2-40B4-BE49-F238E27FC236}">
                <a16:creationId xmlns:a16="http://schemas.microsoft.com/office/drawing/2014/main" id="{23FC039C-A193-4EC6-929B-BFA686A4F16E}"/>
              </a:ext>
            </a:extLst>
          </p:cNvPr>
          <p:cNvSpPr>
            <a:spLocks xmlns:a="http://schemas.openxmlformats.org/drawingml/2006/main" noGrp="1"/>
          </p:cNvSpPr>
          <p:nvPr/>
        </p:nvSpPr>
        <p:spPr>
          <a:xfrm xmlns:a="http://schemas.openxmlformats.org/drawingml/2006/main">
            <a:off x="533400" y="6457950"/>
            <a:ext cx="609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IMPERIVM  /  CRYPTO WORLD’S FAIR</a:t>
            </a:r>
          </a:p>
        </p:txBody>
      </p:sp>
      <p:sp>
        <p:nvSpPr>
          <p:cNvPr id="5" name="">
            <a:extLst xmlns:a="http://schemas.openxmlformats.org/drawingml/2006/main">
              <a:ext uri="{FF2B5EF4-FFF2-40B4-BE49-F238E27FC236}">
                <a16:creationId xmlns:a16="http://schemas.microsoft.com/office/drawing/2014/main" id="{908FA1AD-79AB-4DB0-AB53-C8B5ADE4DC47}"/>
              </a:ext>
            </a:extLst>
          </p:cNvPr>
          <p:cNvSpPr>
            <a:spLocks xmlns:a="http://schemas.openxmlformats.org/drawingml/2006/main" noGrp="1"/>
          </p:cNvSpPr>
          <p:nvPr/>
        </p:nvSpPr>
        <p:spPr>
          <a:xfrm xmlns:a="http://schemas.openxmlformats.org/drawingml/2006/main">
            <a:off x="8286750" y="6457950"/>
            <a:ext cx="3371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Hackathon draft · 9 Oct 2026  /  4</a:t>
            </a:r>
          </a:p>
        </p:txBody>
      </p:sp>
      <p:sp>
        <p:nvSpPr>
          <p:cNvPr id="6" name="">
            <a:extLst xmlns:a="http://schemas.openxmlformats.org/drawingml/2006/main">
              <a:ext uri="{FF2B5EF4-FFF2-40B4-BE49-F238E27FC236}">
                <a16:creationId xmlns:a16="http://schemas.microsoft.com/office/drawing/2014/main" id="{F9F53557-8DCF-4F74-B686-A5CDA668AE40}"/>
              </a:ext>
            </a:extLst>
          </p:cNvPr>
          <p:cNvSpPr>
            <a:spLocks xmlns:a="http://schemas.openxmlformats.org/drawingml/2006/main" noGrp="1"/>
          </p:cNvSpPr>
          <p:nvPr/>
        </p:nvSpPr>
        <p:spPr>
          <a:xfrm xmlns:a="http://schemas.openxmlformats.org/drawingml/2006/main">
            <a:off x="533400" y="181927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650" b="0">
                <a:solidFill>
                  <a:srgbClr val="CFA25D"/>
                </a:solidFill>
                <a:latin typeface="Georgia"/>
                <a:ea typeface="Georgia"/>
                <a:cs typeface="Georgia"/>
              </a:defRPr>
            </a:defPPr>
          </a:lstStyle>
          <a:p xmlns:a="http://schemas.openxmlformats.org/drawingml/2006/main">
            <a:pPr>
              <a:defRPr sz="4650" b="0">
                <a:solidFill>
                  <a:srgbClr val="CFA25D"/>
                </a:solidFill>
                <a:latin typeface="Georgia"/>
                <a:ea typeface="Georgia"/>
                <a:cs typeface="Georgia"/>
              </a:defRPr>
            </a:pPr>
            <a:r>
              <a:rPr sz="4650" b="0">
                <a:solidFill>
                  <a:srgbClr val="CFA25D"/>
                </a:solidFill>
                <a:latin typeface="Georgia"/>
                <a:ea typeface="Georgia"/>
                <a:cs typeface="Georgia"/>
              </a:rPr>
              <a:t>99</a:t>
            </a:r>
          </a:p>
        </p:txBody>
      </p:sp>
      <p:sp>
        <p:nvSpPr>
          <p:cNvPr id="7" name="">
            <a:extLst xmlns:a="http://schemas.openxmlformats.org/drawingml/2006/main">
              <a:ext uri="{FF2B5EF4-FFF2-40B4-BE49-F238E27FC236}">
                <a16:creationId xmlns:a16="http://schemas.microsoft.com/office/drawing/2014/main" id="{39FDF798-5437-4302-BF89-54878F58C208}"/>
              </a:ext>
            </a:extLst>
          </p:cNvPr>
          <p:cNvSpPr>
            <a:spLocks xmlns:a="http://schemas.openxmlformats.org/drawingml/2006/main" noGrp="1"/>
          </p:cNvSpPr>
          <p:nvPr/>
        </p:nvSpPr>
        <p:spPr>
          <a:xfrm xmlns:a="http://schemas.openxmlformats.org/drawingml/2006/main">
            <a:off x="533400" y="2505075"/>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F4EAD3"/>
                </a:solidFill>
                <a:latin typeface="Arial"/>
                <a:ea typeface="Arial"/>
                <a:cs typeface="Arial"/>
              </a:defRPr>
            </a:defPPr>
          </a:lstStyle>
          <a:p xmlns:a="http://schemas.openxmlformats.org/drawingml/2006/main">
            <a:pPr>
              <a:defRPr sz="1725" b="0">
                <a:solidFill>
                  <a:srgbClr val="F4EAD3"/>
                </a:solidFill>
                <a:latin typeface="Arial"/>
                <a:ea typeface="Arial"/>
                <a:cs typeface="Arial"/>
              </a:defRPr>
            </a:pPr>
            <a:r>
              <a:rPr sz="1725" b="0">
                <a:solidFill>
                  <a:srgbClr val="F4EAD3"/>
                </a:solidFill>
                <a:latin typeface="Arial"/>
                <a:ea typeface="Arial"/>
                <a:cs typeface="Arial"/>
              </a:rPr>
              <a:t>cards in the library</a:t>
            </a:r>
          </a:p>
        </p:txBody>
      </p:sp>
      <p:sp>
        <p:nvSpPr>
          <p:cNvPr id="8" name="">
            <a:extLst xmlns:a="http://schemas.openxmlformats.org/drawingml/2006/main">
              <a:ext uri="{FF2B5EF4-FFF2-40B4-BE49-F238E27FC236}">
                <a16:creationId xmlns:a16="http://schemas.microsoft.com/office/drawing/2014/main" id="{992E882B-3CC4-4F7B-9DBE-BB3BE353E6F0}"/>
              </a:ext>
            </a:extLst>
          </p:cNvPr>
          <p:cNvSpPr>
            <a:spLocks xmlns:a="http://schemas.openxmlformats.org/drawingml/2006/main" noGrp="1"/>
          </p:cNvSpPr>
          <p:nvPr/>
        </p:nvSpPr>
        <p:spPr>
          <a:xfrm xmlns:a="http://schemas.openxmlformats.org/drawingml/2006/main">
            <a:off x="533400" y="3200400"/>
            <a:ext cx="2809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75" b="0">
                <a:solidFill>
                  <a:srgbClr val="CFA25D"/>
                </a:solidFill>
                <a:latin typeface="Georgia"/>
                <a:ea typeface="Georgia"/>
                <a:cs typeface="Georgia"/>
              </a:defRPr>
            </a:defPPr>
          </a:lstStyle>
          <a:p xmlns:a="http://schemas.openxmlformats.org/drawingml/2006/main">
            <a:pPr>
              <a:defRPr sz="3375" b="0">
                <a:solidFill>
                  <a:srgbClr val="CFA25D"/>
                </a:solidFill>
                <a:latin typeface="Georgia"/>
                <a:ea typeface="Georgia"/>
                <a:cs typeface="Georgia"/>
              </a:defRPr>
            </a:pPr>
            <a:r>
              <a:rPr sz="3375" b="0">
                <a:solidFill>
                  <a:srgbClr val="CFA25D"/>
                </a:solidFill>
                <a:latin typeface="Georgia"/>
                <a:ea typeface="Georgia"/>
                <a:cs typeface="Georgia"/>
              </a:rPr>
              <a:t>49 + 50</a:t>
            </a:r>
          </a:p>
        </p:txBody>
      </p:sp>
      <p:sp>
        <p:nvSpPr>
          <p:cNvPr id="9" name="">
            <a:extLst xmlns:a="http://schemas.openxmlformats.org/drawingml/2006/main">
              <a:ext uri="{FF2B5EF4-FFF2-40B4-BE49-F238E27FC236}">
                <a16:creationId xmlns:a16="http://schemas.microsoft.com/office/drawing/2014/main" id="{9A681277-A980-457B-86C8-1EB754E3212D}"/>
              </a:ext>
            </a:extLst>
          </p:cNvPr>
          <p:cNvSpPr>
            <a:spLocks xmlns:a="http://schemas.openxmlformats.org/drawingml/2006/main" noGrp="1"/>
          </p:cNvSpPr>
          <p:nvPr/>
        </p:nvSpPr>
        <p:spPr>
          <a:xfrm xmlns:a="http://schemas.openxmlformats.org/drawingml/2006/main">
            <a:off x="533400" y="3838575"/>
            <a:ext cx="2781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F4EAD3"/>
                </a:solidFill>
                <a:latin typeface="Arial"/>
                <a:ea typeface="Arial"/>
                <a:cs typeface="Arial"/>
              </a:defRPr>
            </a:defPPr>
          </a:lstStyle>
          <a:p xmlns:a="http://schemas.openxmlformats.org/drawingml/2006/main">
            <a:pPr>
              <a:defRPr sz="1725" b="0">
                <a:solidFill>
                  <a:srgbClr val="F4EAD3"/>
                </a:solidFill>
                <a:latin typeface="Arial"/>
                <a:ea typeface="Arial"/>
                <a:cs typeface="Arial"/>
              </a:defRPr>
            </a:pPr>
            <a:r>
              <a:rPr sz="1725" b="0">
                <a:solidFill>
                  <a:srgbClr val="F4EAD3"/>
                </a:solidFill>
                <a:latin typeface="Arial"/>
                <a:ea typeface="Arial"/>
                <a:cs typeface="Arial"/>
              </a:rPr>
              <a:t>free base + pack-exclusive</a:t>
            </a:r>
          </a:p>
        </p:txBody>
      </p:sp>
      <p:sp>
        <p:nvSpPr>
          <p:cNvPr id="10" name="">
            <a:extLst xmlns:a="http://schemas.openxmlformats.org/drawingml/2006/main">
              <a:ext uri="{FF2B5EF4-FFF2-40B4-BE49-F238E27FC236}">
                <a16:creationId xmlns:a16="http://schemas.microsoft.com/office/drawing/2014/main" id="{56F294B5-1554-4E58-9E06-507C678378FE}"/>
              </a:ext>
            </a:extLst>
          </p:cNvPr>
          <p:cNvSpPr>
            <a:spLocks xmlns:a="http://schemas.openxmlformats.org/drawingml/2006/main" noGrp="1"/>
          </p:cNvSpPr>
          <p:nvPr/>
        </p:nvSpPr>
        <p:spPr>
          <a:xfrm xmlns:a="http://schemas.openxmlformats.org/drawingml/2006/main">
            <a:off x="533400" y="48387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75" b="0">
                <a:solidFill>
                  <a:srgbClr val="CFA25D"/>
                </a:solidFill>
                <a:latin typeface="Georgia"/>
                <a:ea typeface="Georgia"/>
                <a:cs typeface="Georgia"/>
              </a:defRPr>
            </a:defPPr>
          </a:lstStyle>
          <a:p xmlns:a="http://schemas.openxmlformats.org/drawingml/2006/main">
            <a:pPr>
              <a:defRPr sz="3975" b="0">
                <a:solidFill>
                  <a:srgbClr val="CFA25D"/>
                </a:solidFill>
                <a:latin typeface="Georgia"/>
                <a:ea typeface="Georgia"/>
                <a:cs typeface="Georgia"/>
              </a:defRPr>
            </a:pPr>
            <a:r>
              <a:rPr sz="3975" b="0">
                <a:solidFill>
                  <a:srgbClr val="CFA25D"/>
                </a:solidFill>
                <a:latin typeface="Georgia"/>
                <a:ea typeface="Georgia"/>
                <a:cs typeface="Georgia"/>
              </a:rPr>
              <a:t>30</a:t>
            </a:r>
          </a:p>
        </p:txBody>
      </p:sp>
      <p:sp>
        <p:nvSpPr>
          <p:cNvPr id="11" name="">
            <a:extLst xmlns:a="http://schemas.openxmlformats.org/drawingml/2006/main">
              <a:ext uri="{FF2B5EF4-FFF2-40B4-BE49-F238E27FC236}">
                <a16:creationId xmlns:a16="http://schemas.microsoft.com/office/drawing/2014/main" id="{851A2364-DA1B-49CD-A01A-80520884B709}"/>
              </a:ext>
            </a:extLst>
          </p:cNvPr>
          <p:cNvSpPr>
            <a:spLocks xmlns:a="http://schemas.openxmlformats.org/drawingml/2006/main" noGrp="1"/>
          </p:cNvSpPr>
          <p:nvPr/>
        </p:nvSpPr>
        <p:spPr>
          <a:xfrm xmlns:a="http://schemas.openxmlformats.org/drawingml/2006/main">
            <a:off x="533400" y="546735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F4EAD3"/>
                </a:solidFill>
                <a:latin typeface="Arial"/>
                <a:ea typeface="Arial"/>
                <a:cs typeface="Arial"/>
              </a:defRPr>
            </a:defPPr>
          </a:lstStyle>
          <a:p xmlns:a="http://schemas.openxmlformats.org/drawingml/2006/main">
            <a:pPr>
              <a:defRPr sz="1725" b="0">
                <a:solidFill>
                  <a:srgbClr val="F4EAD3"/>
                </a:solidFill>
                <a:latin typeface="Arial"/>
                <a:ea typeface="Arial"/>
                <a:cs typeface="Arial"/>
              </a:defRPr>
            </a:pPr>
            <a:r>
              <a:rPr sz="1725" b="0">
                <a:solidFill>
                  <a:srgbClr val="F4EAD3"/>
                </a:solidFill>
                <a:latin typeface="Arial"/>
                <a:ea typeface="Arial"/>
                <a:cs typeface="Arial"/>
              </a:rPr>
              <a:t>cards in a legal deck</a:t>
            </a:r>
          </a:p>
        </p:txBody>
      </p:sp>
      <p:sp>
        <p:nvSpPr>
          <p:cNvPr id="12" name="">
            <a:extLst xmlns:a="http://schemas.openxmlformats.org/drawingml/2006/main">
              <a:ext uri="{FF2B5EF4-FFF2-40B4-BE49-F238E27FC236}">
                <a16:creationId xmlns:a16="http://schemas.microsoft.com/office/drawing/2014/main" id="{20C88610-79A6-4139-B2E5-8F6E4AF16B97}"/>
              </a:ext>
            </a:extLst>
          </p:cNvPr>
          <p:cNvSpPr>
            <a:spLocks xmlns:a="http://schemas.openxmlformats.org/drawingml/2006/main" noGrp="1"/>
          </p:cNvSpPr>
          <p:nvPr/>
        </p:nvSpPr>
        <p:spPr>
          <a:xfrm xmlns:a="http://schemas.openxmlformats.org/drawingml/2006/main">
            <a:off x="3486150" y="1704975"/>
            <a:ext cx="8172450" cy="4533900"/>
          </a:xfrm>
          <a:prstGeom xmlns:a="http://schemas.openxmlformats.org/drawingml/2006/main" prst="rect">
            <a:avLst/>
          </a:prstGeom>
          <a:solidFill xmlns:a="http://schemas.openxmlformats.org/drawingml/2006/main">
            <a:srgbClr val="2C211B"/>
          </a:solidFill>
          <a:ln xmlns:a="http://schemas.openxmlformats.org/drawingml/2006/main" w="9525">
            <a:solidFill>
              <a:srgbClr val="CFA25D"/>
            </a:solidFill>
          </a:ln>
        </p:spPr>
      </p:sp>
      <p:pic>
        <p:nvPicPr>
          <p:cNvPr id="13" name="">
            <a:extLst xmlns:a="http://schemas.openxmlformats.org/drawingml/2006/main">
              <a:ext uri="{FF2B5EF4-FFF2-40B4-BE49-F238E27FC236}">
                <a16:creationId xmlns:a16="http://schemas.microsoft.com/office/drawing/2014/main" id="{2579B9A5-0813-49A3-A9C1-69C3C31CC42E}"/>
              </a:ext>
            </a:extLst>
          </p:cNvPr>
          <p:cNvPicPr>
            <a:picLocks xmlns:a="http://schemas.openxmlformats.org/drawingml/2006/main" noChangeAspect="1"/>
          </p:cNvPicPr>
          <p:nvPr/>
        </p:nvPicPr>
        <p:blipFill>
          <a:blip xmlns:r="http://schemas.openxmlformats.org/officeDocument/2006/relationships" xmlns:a="http://schemas.openxmlformats.org/drawingml/2006/main" r:embed="R8db51e487f0e4a07"/>
          <a:stretch xmlns:a="http://schemas.openxmlformats.org/drawingml/2006/main"/>
        </p:blipFill>
        <p:spPr>
          <a:xfrm xmlns:a="http://schemas.openxmlformats.org/drawingml/2006/main">
            <a:off x="3576108" y="1724025"/>
            <a:ext cx="7992533" cy="4495800"/>
          </a:xfrm>
          <a:prstGeom xmlns:a="http://schemas.openxmlformats.org/drawingml/2006/main" prst="rect">
            <a:avLst/>
          </a:prstGeom>
        </p:spPr>
      </p:pic>
    </p:spTree>
    <p:extLst>
      <p:ext uri="{BB962C8B-B14F-4D97-AF65-F5344CB8AC3E}">
        <p14:creationId xmlns:p14="http://schemas.microsoft.com/office/powerpoint/2010/main" val="1625105408"/>
      </p:ext>
    </p:extLst>
  </p:cSld>
</p:sld>
</file>

<file path=ppt/slides/slide5.xml><?xml version="1.0" encoding="utf-8"?>
<p:sld xmlns:p="http://schemas.openxmlformats.org/presentationml/2006/main">
  <p:cSld>
    <p:bg>
      <p:bgPr>
        <a:solidFill xmlns:a="http://schemas.openxmlformats.org/drawingml/2006/main">
          <a:srgbClr val="1D171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C7A150B-8059-4A22-8BF3-5E8D329E822F}"/>
              </a:ext>
            </a:extLst>
          </p:cNvPr>
          <p:cNvSpPr>
            <a:spLocks xmlns:a="http://schemas.openxmlformats.org/drawingml/2006/main" noGrp="1"/>
          </p:cNvSpPr>
          <p:nvPr/>
        </p:nvSpPr>
        <p:spPr>
          <a:xfrm xmlns:a="http://schemas.openxmlformats.org/drawingml/2006/main">
            <a:off x="533400" y="3238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CFA25D"/>
                </a:solidFill>
                <a:latin typeface="Arial"/>
                <a:ea typeface="Arial"/>
                <a:cs typeface="Arial"/>
              </a:defRPr>
            </a:defPPr>
          </a:lstStyle>
          <a:p xmlns:a="http://schemas.openxmlformats.org/drawingml/2006/main">
            <a:pPr>
              <a:defRPr sz="1200" b="1">
                <a:solidFill>
                  <a:srgbClr val="CFA25D"/>
                </a:solidFill>
                <a:latin typeface="Arial"/>
                <a:ea typeface="Arial"/>
                <a:cs typeface="Arial"/>
              </a:defRPr>
            </a:pPr>
            <a:r>
              <a:rPr sz="1200" b="1">
                <a:solidFill>
                  <a:srgbClr val="CFA25D"/>
                </a:solidFill>
                <a:latin typeface="Arial"/>
                <a:ea typeface="Arial"/>
                <a:cs typeface="Arial"/>
              </a:rPr>
              <a:t>PACKS &amp; RULERS</a:t>
            </a:r>
          </a:p>
        </p:txBody>
      </p:sp>
      <p:sp>
        <p:nvSpPr>
          <p:cNvPr id="2" name="">
            <a:extLst xmlns:a="http://schemas.openxmlformats.org/drawingml/2006/main">
              <a:ext uri="{FF2B5EF4-FFF2-40B4-BE49-F238E27FC236}">
                <a16:creationId xmlns:a16="http://schemas.microsoft.com/office/drawing/2014/main" id="{F654BB5E-400F-4220-B2EF-EF6BB6C594FD}"/>
              </a:ext>
            </a:extLst>
          </p:cNvPr>
          <p:cNvSpPr>
            <a:spLocks xmlns:a="http://schemas.openxmlformats.org/drawingml/2006/main" noGrp="1"/>
          </p:cNvSpPr>
          <p:nvPr/>
        </p:nvSpPr>
        <p:spPr>
          <a:xfrm xmlns:a="http://schemas.openxmlformats.org/drawingml/2006/main">
            <a:off x="533400" y="742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F4EAD3"/>
                </a:solidFill>
                <a:latin typeface="Georgia"/>
                <a:ea typeface="Georgia"/>
                <a:cs typeface="Georgia"/>
              </a:defRPr>
            </a:defPPr>
          </a:lstStyle>
          <a:p xmlns:a="http://schemas.openxmlformats.org/drawingml/2006/main">
            <a:pPr>
              <a:defRPr sz="3450" b="0">
                <a:solidFill>
                  <a:srgbClr val="F4EAD3"/>
                </a:solidFill>
                <a:latin typeface="Georgia"/>
                <a:ea typeface="Georgia"/>
                <a:cs typeface="Georgia"/>
              </a:defRPr>
            </a:pPr>
            <a:r>
              <a:rPr sz="3450" b="0">
                <a:solidFill>
                  <a:srgbClr val="F4EAD3"/>
                </a:solidFill>
                <a:latin typeface="Georgia"/>
                <a:ea typeface="Georgia"/>
                <a:cs typeface="Georgia"/>
              </a:rPr>
              <a:t>Five reveals. One card at a time.</a:t>
            </a:r>
          </a:p>
        </p:txBody>
      </p:sp>
      <p:sp>
        <p:nvSpPr>
          <p:cNvPr id="3" name="">
            <a:extLst xmlns:a="http://schemas.openxmlformats.org/drawingml/2006/main">
              <a:ext uri="{FF2B5EF4-FFF2-40B4-BE49-F238E27FC236}">
                <a16:creationId xmlns:a16="http://schemas.microsoft.com/office/drawing/2014/main" id="{876747B8-9369-46BA-83F0-32E372E183CF}"/>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644C31"/>
          </a:solidFill>
          <a:ln xmlns:a="http://schemas.openxmlformats.org/drawingml/2006/main" w="9525">
            <a:solidFill>
              <a:srgbClr val="644C31"/>
            </a:solidFill>
          </a:ln>
        </p:spPr>
      </p:sp>
      <p:sp>
        <p:nvSpPr>
          <p:cNvPr id="4" name="">
            <a:extLst xmlns:a="http://schemas.openxmlformats.org/drawingml/2006/main">
              <a:ext uri="{FF2B5EF4-FFF2-40B4-BE49-F238E27FC236}">
                <a16:creationId xmlns:a16="http://schemas.microsoft.com/office/drawing/2014/main" id="{A2FE12D5-9CAA-4C12-8265-B830D5FBBEB7}"/>
              </a:ext>
            </a:extLst>
          </p:cNvPr>
          <p:cNvSpPr>
            <a:spLocks xmlns:a="http://schemas.openxmlformats.org/drawingml/2006/main" noGrp="1"/>
          </p:cNvSpPr>
          <p:nvPr/>
        </p:nvSpPr>
        <p:spPr>
          <a:xfrm xmlns:a="http://schemas.openxmlformats.org/drawingml/2006/main">
            <a:off x="533400" y="6457950"/>
            <a:ext cx="609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IMPERIVM  /  CRYPTO WORLD’S FAIR</a:t>
            </a:r>
          </a:p>
        </p:txBody>
      </p:sp>
      <p:sp>
        <p:nvSpPr>
          <p:cNvPr id="5" name="">
            <a:extLst xmlns:a="http://schemas.openxmlformats.org/drawingml/2006/main">
              <a:ext uri="{FF2B5EF4-FFF2-40B4-BE49-F238E27FC236}">
                <a16:creationId xmlns:a16="http://schemas.microsoft.com/office/drawing/2014/main" id="{F20209CA-3AA0-45AF-AB68-6973C7468AB7}"/>
              </a:ext>
            </a:extLst>
          </p:cNvPr>
          <p:cNvSpPr>
            <a:spLocks xmlns:a="http://schemas.openxmlformats.org/drawingml/2006/main" noGrp="1"/>
          </p:cNvSpPr>
          <p:nvPr/>
        </p:nvSpPr>
        <p:spPr>
          <a:xfrm xmlns:a="http://schemas.openxmlformats.org/drawingml/2006/main">
            <a:off x="8286750" y="6457950"/>
            <a:ext cx="3371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Hackathon draft · 9 Oct 2026  /  5</a:t>
            </a:r>
          </a:p>
        </p:txBody>
      </p:sp>
      <p:sp>
        <p:nvSpPr>
          <p:cNvPr id="6" name="">
            <a:extLst xmlns:a="http://schemas.openxmlformats.org/drawingml/2006/main">
              <a:ext uri="{FF2B5EF4-FFF2-40B4-BE49-F238E27FC236}">
                <a16:creationId xmlns:a16="http://schemas.microsoft.com/office/drawing/2014/main" id="{A990FA82-8860-4AFA-9E96-7399D447998B}"/>
              </a:ext>
            </a:extLst>
          </p:cNvPr>
          <p:cNvSpPr>
            <a:spLocks xmlns:a="http://schemas.openxmlformats.org/drawingml/2006/main" noGrp="1"/>
          </p:cNvSpPr>
          <p:nvPr/>
        </p:nvSpPr>
        <p:spPr>
          <a:xfrm xmlns:a="http://schemas.openxmlformats.org/drawingml/2006/main">
            <a:off x="533400" y="1876425"/>
            <a:ext cx="2714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EAD3"/>
                </a:solidFill>
                <a:latin typeface="Georgia"/>
                <a:ea typeface="Georgia"/>
                <a:cs typeface="Georgia"/>
              </a:defRPr>
            </a:defPPr>
          </a:lstStyle>
          <a:p xmlns:a="http://schemas.openxmlformats.org/drawingml/2006/main">
            <a:pPr>
              <a:defRPr sz="2175" b="0">
                <a:solidFill>
                  <a:srgbClr val="F4EAD3"/>
                </a:solidFill>
                <a:latin typeface="Georgia"/>
                <a:ea typeface="Georgia"/>
                <a:cs typeface="Georgia"/>
              </a:defRPr>
            </a:pPr>
            <a:r>
              <a:rPr sz="2175" b="0">
                <a:solidFill>
                  <a:srgbClr val="F4EAD3"/>
                </a:solidFill>
                <a:latin typeface="Georgia"/>
                <a:ea typeface="Georgia"/>
                <a:cs typeface="Georgia"/>
              </a:rPr>
              <a:t>Painted rarity frames</a:t>
            </a:r>
          </a:p>
        </p:txBody>
      </p:sp>
      <p:sp>
        <p:nvSpPr>
          <p:cNvPr id="7" name="">
            <a:extLst xmlns:a="http://schemas.openxmlformats.org/drawingml/2006/main">
              <a:ext uri="{FF2B5EF4-FFF2-40B4-BE49-F238E27FC236}">
                <a16:creationId xmlns:a16="http://schemas.microsoft.com/office/drawing/2014/main" id="{1361B1AF-8DB3-4CFB-A4D0-679605D4002D}"/>
              </a:ext>
            </a:extLst>
          </p:cNvPr>
          <p:cNvSpPr>
            <a:spLocks xmlns:a="http://schemas.openxmlformats.org/drawingml/2006/main" noGrp="1"/>
          </p:cNvSpPr>
          <p:nvPr/>
        </p:nvSpPr>
        <p:spPr>
          <a:xfrm xmlns:a="http://schemas.openxmlformats.org/drawingml/2006/main">
            <a:off x="533400" y="2771775"/>
            <a:ext cx="2714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C4B59C"/>
                </a:solidFill>
                <a:latin typeface="Arial"/>
                <a:ea typeface="Arial"/>
                <a:cs typeface="Arial"/>
              </a:defRPr>
            </a:defPPr>
          </a:lstStyle>
          <a:p xmlns:a="http://schemas.openxmlformats.org/drawingml/2006/main">
            <a:pPr>
              <a:defRPr sz="1875" b="0">
                <a:solidFill>
                  <a:srgbClr val="C4B59C"/>
                </a:solidFill>
                <a:latin typeface="Arial"/>
                <a:ea typeface="Arial"/>
                <a:cs typeface="Arial"/>
              </a:defRPr>
            </a:pPr>
            <a:r>
              <a:rPr sz="1875" b="0">
                <a:solidFill>
                  <a:srgbClr val="C4B59C"/>
                </a:solidFill>
                <a:latin typeface="Arial"/>
                <a:ea typeface="Arial"/>
                <a:cs typeface="Arial"/>
              </a:rPr>
              <a:t>Reveal each card,</a:t>
            </a:r>
          </a:p>
          <a:p xmlns:a="http://schemas.openxmlformats.org/drawingml/2006/main">
            <a:pPr>
              <a:defRPr sz="1875" b="0">
                <a:solidFill>
                  <a:srgbClr val="C4B59C"/>
                </a:solidFill>
                <a:latin typeface="Arial"/>
                <a:ea typeface="Arial"/>
                <a:cs typeface="Arial"/>
              </a:defRPr>
            </a:pPr>
            <a:r>
              <a:rPr sz="1875" b="0">
                <a:solidFill>
                  <a:srgbClr val="C4B59C"/>
                </a:solidFill>
                <a:latin typeface="Arial"/>
                <a:ea typeface="Arial"/>
                <a:cs typeface="Arial"/>
              </a:rPr>
              <a:t>then build around it.</a:t>
            </a:r>
          </a:p>
        </p:txBody>
      </p:sp>
      <p:sp>
        <p:nvSpPr>
          <p:cNvPr id="8" name="">
            <a:extLst xmlns:a="http://schemas.openxmlformats.org/drawingml/2006/main">
              <a:ext uri="{FF2B5EF4-FFF2-40B4-BE49-F238E27FC236}">
                <a16:creationId xmlns:a16="http://schemas.microsoft.com/office/drawing/2014/main" id="{EC512F45-AA3A-4F24-A394-706F47B7CF82}"/>
              </a:ext>
            </a:extLst>
          </p:cNvPr>
          <p:cNvSpPr>
            <a:spLocks xmlns:a="http://schemas.openxmlformats.org/drawingml/2006/main" noGrp="1"/>
          </p:cNvSpPr>
          <p:nvPr/>
        </p:nvSpPr>
        <p:spPr>
          <a:xfrm xmlns:a="http://schemas.openxmlformats.org/drawingml/2006/main">
            <a:off x="533400" y="4124325"/>
            <a:ext cx="2714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CFA25D"/>
                </a:solidFill>
                <a:latin typeface="Georgia"/>
                <a:ea typeface="Georgia"/>
                <a:cs typeface="Georgia"/>
              </a:defRPr>
            </a:defPPr>
          </a:lstStyle>
          <a:p xmlns:a="http://schemas.openxmlformats.org/drawingml/2006/main">
            <a:pPr>
              <a:defRPr sz="2325" b="0">
                <a:solidFill>
                  <a:srgbClr val="CFA25D"/>
                </a:solidFill>
                <a:latin typeface="Georgia"/>
                <a:ea typeface="Georgia"/>
                <a:cs typeface="Georgia"/>
              </a:defRPr>
            </a:pPr>
            <a:r>
              <a:rPr sz="2325" b="0">
                <a:solidFill>
                  <a:srgbClr val="CFA25D"/>
                </a:solidFill>
                <a:latin typeface="Georgia"/>
                <a:ea typeface="Georgia"/>
                <a:cs typeface="Georgia"/>
              </a:rPr>
              <a:t>5 free rulers</a:t>
            </a:r>
          </a:p>
          <a:p xmlns:a="http://schemas.openxmlformats.org/drawingml/2006/main">
            <a:pPr>
              <a:defRPr sz="2325" b="0">
                <a:solidFill>
                  <a:srgbClr val="CFA25D"/>
                </a:solidFill>
                <a:latin typeface="Georgia"/>
                <a:ea typeface="Georgia"/>
                <a:cs typeface="Georgia"/>
              </a:defRPr>
            </a:pPr>
            <a:r>
              <a:rPr sz="2325" b="0">
                <a:solidFill>
                  <a:srgbClr val="CFA25D"/>
                </a:solidFill>
                <a:latin typeface="Georgia"/>
                <a:ea typeface="Georgia"/>
                <a:cs typeface="Georgia"/>
              </a:rPr>
              <a:t>4 from cases</a:t>
            </a:r>
          </a:p>
        </p:txBody>
      </p:sp>
      <p:sp>
        <p:nvSpPr>
          <p:cNvPr id="9" name="">
            <a:extLst xmlns:a="http://schemas.openxmlformats.org/drawingml/2006/main">
              <a:ext uri="{FF2B5EF4-FFF2-40B4-BE49-F238E27FC236}">
                <a16:creationId xmlns:a16="http://schemas.microsoft.com/office/drawing/2014/main" id="{D9D3AC73-1309-4804-980A-15527D52CB4C}"/>
              </a:ext>
            </a:extLst>
          </p:cNvPr>
          <p:cNvSpPr>
            <a:spLocks xmlns:a="http://schemas.openxmlformats.org/drawingml/2006/main" noGrp="1"/>
          </p:cNvSpPr>
          <p:nvPr/>
        </p:nvSpPr>
        <p:spPr>
          <a:xfrm xmlns:a="http://schemas.openxmlformats.org/drawingml/2006/main">
            <a:off x="533400" y="551497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C4B59C"/>
                </a:solidFill>
                <a:latin typeface="Arial"/>
                <a:ea typeface="Arial"/>
                <a:cs typeface="Arial"/>
              </a:defRPr>
            </a:defPPr>
          </a:lstStyle>
          <a:p xmlns:a="http://schemas.openxmlformats.org/drawingml/2006/main">
            <a:pPr>
              <a:defRPr sz="1500" b="0">
                <a:solidFill>
                  <a:srgbClr val="C4B59C"/>
                </a:solidFill>
                <a:latin typeface="Arial"/>
                <a:ea typeface="Arial"/>
                <a:cs typeface="Arial"/>
              </a:defRPr>
            </a:pPr>
            <a:r>
              <a:rPr sz="1500" b="0">
                <a:solidFill>
                  <a:srgbClr val="C4B59C"/>
                </a:solidFill>
                <a:latin typeface="Arial"/>
                <a:ea typeface="Arial"/>
                <a:cs typeface="Arial"/>
              </a:rPr>
              <a:t>Local demo shown.</a:t>
            </a:r>
          </a:p>
          <a:p xmlns:a="http://schemas.openxmlformats.org/drawingml/2006/main">
            <a:pPr>
              <a:defRPr sz="1500" b="0">
                <a:solidFill>
                  <a:srgbClr val="C4B59C"/>
                </a:solidFill>
                <a:latin typeface="Arial"/>
                <a:ea typeface="Arial"/>
                <a:cs typeface="Arial"/>
              </a:defRPr>
            </a:pPr>
            <a:r>
              <a:rPr sz="1500" b="0">
                <a:solidFill>
                  <a:srgbClr val="C4B59C"/>
                </a:solidFill>
                <a:latin typeface="Arial"/>
                <a:ea typeface="Arial"/>
                <a:cs typeface="Arial"/>
              </a:rPr>
              <a:t>Payments disabled.</a:t>
            </a:r>
          </a:p>
        </p:txBody>
      </p:sp>
      <p:sp>
        <p:nvSpPr>
          <p:cNvPr id="10" name="">
            <a:extLst xmlns:a="http://schemas.openxmlformats.org/drawingml/2006/main">
              <a:ext uri="{FF2B5EF4-FFF2-40B4-BE49-F238E27FC236}">
                <a16:creationId xmlns:a16="http://schemas.microsoft.com/office/drawing/2014/main" id="{FDF86C0B-F1B7-4091-B583-60481914CBD9}"/>
              </a:ext>
            </a:extLst>
          </p:cNvPr>
          <p:cNvSpPr>
            <a:spLocks xmlns:a="http://schemas.openxmlformats.org/drawingml/2006/main" noGrp="1"/>
          </p:cNvSpPr>
          <p:nvPr/>
        </p:nvSpPr>
        <p:spPr>
          <a:xfrm xmlns:a="http://schemas.openxmlformats.org/drawingml/2006/main">
            <a:off x="3486150" y="1704975"/>
            <a:ext cx="8172450" cy="4533900"/>
          </a:xfrm>
          <a:prstGeom xmlns:a="http://schemas.openxmlformats.org/drawingml/2006/main" prst="rect">
            <a:avLst/>
          </a:prstGeom>
          <a:solidFill xmlns:a="http://schemas.openxmlformats.org/drawingml/2006/main">
            <a:srgbClr val="2C211B"/>
          </a:solidFill>
          <a:ln xmlns:a="http://schemas.openxmlformats.org/drawingml/2006/main" w="9525">
            <a:solidFill>
              <a:srgbClr val="CFA25D"/>
            </a:solidFill>
          </a:ln>
        </p:spPr>
      </p:sp>
      <p:pic>
        <p:nvPicPr>
          <p:cNvPr id="11" name="">
            <a:extLst xmlns:a="http://schemas.openxmlformats.org/drawingml/2006/main">
              <a:ext uri="{FF2B5EF4-FFF2-40B4-BE49-F238E27FC236}">
                <a16:creationId xmlns:a16="http://schemas.microsoft.com/office/drawing/2014/main" id="{7E053479-C4D6-4E05-8E60-CCC9C1F537D4}"/>
              </a:ext>
            </a:extLst>
          </p:cNvPr>
          <p:cNvPicPr>
            <a:picLocks xmlns:a="http://schemas.openxmlformats.org/drawingml/2006/main" noChangeAspect="1"/>
          </p:cNvPicPr>
          <p:nvPr/>
        </p:nvPicPr>
        <p:blipFill>
          <a:blip xmlns:r="http://schemas.openxmlformats.org/officeDocument/2006/relationships" xmlns:a="http://schemas.openxmlformats.org/drawingml/2006/main" r:embed="Raad504965df74a9c"/>
          <a:stretch xmlns:a="http://schemas.openxmlformats.org/drawingml/2006/main"/>
        </p:blipFill>
        <p:spPr>
          <a:xfrm xmlns:a="http://schemas.openxmlformats.org/drawingml/2006/main">
            <a:off x="3576108" y="1724025"/>
            <a:ext cx="7992533" cy="4495800"/>
          </a:xfrm>
          <a:prstGeom xmlns:a="http://schemas.openxmlformats.org/drawingml/2006/main" prst="rect">
            <a:avLst/>
          </a:prstGeom>
        </p:spPr>
      </p:pic>
    </p:spTree>
    <p:extLst>
      <p:ext uri="{BB962C8B-B14F-4D97-AF65-F5344CB8AC3E}">
        <p14:creationId xmlns:p14="http://schemas.microsoft.com/office/powerpoint/2010/main" val="1983633864"/>
      </p:ext>
    </p:extLst>
  </p:cSld>
</p:sld>
</file>

<file path=ppt/slides/slide6.xml><?xml version="1.0" encoding="utf-8"?>
<p:sld xmlns:p="http://schemas.openxmlformats.org/presentationml/2006/main">
  <p:cSld>
    <p:bg>
      <p:bgPr>
        <a:solidFill xmlns:a="http://schemas.openxmlformats.org/drawingml/2006/main">
          <a:srgbClr val="1D171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9D7A3DF-E55A-4231-AB2D-7EFF87423524}"/>
              </a:ext>
            </a:extLst>
          </p:cNvPr>
          <p:cNvSpPr>
            <a:spLocks xmlns:a="http://schemas.openxmlformats.org/drawingml/2006/main" noGrp="1"/>
          </p:cNvSpPr>
          <p:nvPr/>
        </p:nvSpPr>
        <p:spPr>
          <a:xfrm xmlns:a="http://schemas.openxmlformats.org/drawingml/2006/main">
            <a:off x="533400" y="3238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CFA25D"/>
                </a:solidFill>
                <a:latin typeface="Arial"/>
                <a:ea typeface="Arial"/>
                <a:cs typeface="Arial"/>
              </a:defRPr>
            </a:defPPr>
          </a:lstStyle>
          <a:p xmlns:a="http://schemas.openxmlformats.org/drawingml/2006/main">
            <a:pPr>
              <a:defRPr sz="1200" b="1">
                <a:solidFill>
                  <a:srgbClr val="CFA25D"/>
                </a:solidFill>
                <a:latin typeface="Arial"/>
                <a:ea typeface="Arial"/>
                <a:cs typeface="Arial"/>
              </a:defRPr>
            </a:pPr>
            <a:r>
              <a:rPr sz="1200" b="1">
                <a:solidFill>
                  <a:srgbClr val="CFA25D"/>
                </a:solidFill>
                <a:latin typeface="Arial"/>
                <a:ea typeface="Arial"/>
                <a:cs typeface="Arial"/>
              </a:rPr>
              <a:t>SOLANA INTEGRATION</a:t>
            </a:r>
          </a:p>
        </p:txBody>
      </p:sp>
      <p:sp>
        <p:nvSpPr>
          <p:cNvPr id="2" name="">
            <a:extLst xmlns:a="http://schemas.openxmlformats.org/drawingml/2006/main">
              <a:ext uri="{FF2B5EF4-FFF2-40B4-BE49-F238E27FC236}">
                <a16:creationId xmlns:a16="http://schemas.microsoft.com/office/drawing/2014/main" id="{4BCF2A65-61B2-46DA-BA54-2221CA46F13A}"/>
              </a:ext>
            </a:extLst>
          </p:cNvPr>
          <p:cNvSpPr>
            <a:spLocks xmlns:a="http://schemas.openxmlformats.org/drawingml/2006/main" noGrp="1"/>
          </p:cNvSpPr>
          <p:nvPr/>
        </p:nvSpPr>
        <p:spPr>
          <a:xfrm xmlns:a="http://schemas.openxmlformats.org/drawingml/2006/main">
            <a:off x="533400" y="742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F4EAD3"/>
                </a:solidFill>
                <a:latin typeface="Georgia"/>
                <a:ea typeface="Georgia"/>
                <a:cs typeface="Georgia"/>
              </a:defRPr>
            </a:defPPr>
          </a:lstStyle>
          <a:p xmlns:a="http://schemas.openxmlformats.org/drawingml/2006/main">
            <a:pPr>
              <a:defRPr sz="3450" b="0">
                <a:solidFill>
                  <a:srgbClr val="F4EAD3"/>
                </a:solidFill>
                <a:latin typeface="Georgia"/>
                <a:ea typeface="Georgia"/>
                <a:cs typeface="Georgia"/>
              </a:defRPr>
            </a:pPr>
            <a:r>
              <a:rPr sz="3450" b="0">
                <a:solidFill>
                  <a:srgbClr val="F4EAD3"/>
                </a:solidFill>
                <a:latin typeface="Georgia"/>
                <a:ea typeface="Georgia"/>
                <a:cs typeface="Georgia"/>
              </a:rPr>
              <a:t>Identity and a first-victory collectible</a:t>
            </a:r>
          </a:p>
        </p:txBody>
      </p:sp>
      <p:sp>
        <p:nvSpPr>
          <p:cNvPr id="3" name="">
            <a:extLst xmlns:a="http://schemas.openxmlformats.org/drawingml/2006/main">
              <a:ext uri="{FF2B5EF4-FFF2-40B4-BE49-F238E27FC236}">
                <a16:creationId xmlns:a16="http://schemas.microsoft.com/office/drawing/2014/main" id="{AAEEC0B2-DB1E-419F-85EA-2C90C0F7CB24}"/>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644C31"/>
          </a:solidFill>
          <a:ln xmlns:a="http://schemas.openxmlformats.org/drawingml/2006/main" w="9525">
            <a:solidFill>
              <a:srgbClr val="644C31"/>
            </a:solidFill>
          </a:ln>
        </p:spPr>
      </p:sp>
      <p:sp>
        <p:nvSpPr>
          <p:cNvPr id="4" name="">
            <a:extLst xmlns:a="http://schemas.openxmlformats.org/drawingml/2006/main">
              <a:ext uri="{FF2B5EF4-FFF2-40B4-BE49-F238E27FC236}">
                <a16:creationId xmlns:a16="http://schemas.microsoft.com/office/drawing/2014/main" id="{388B8C85-E227-41FF-A19A-B75F7EFB480F}"/>
              </a:ext>
            </a:extLst>
          </p:cNvPr>
          <p:cNvSpPr>
            <a:spLocks xmlns:a="http://schemas.openxmlformats.org/drawingml/2006/main" noGrp="1"/>
          </p:cNvSpPr>
          <p:nvPr/>
        </p:nvSpPr>
        <p:spPr>
          <a:xfrm xmlns:a="http://schemas.openxmlformats.org/drawingml/2006/main">
            <a:off x="533400" y="6457950"/>
            <a:ext cx="609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IMPERIVM  /  CRYPTO WORLD’S FAIR</a:t>
            </a:r>
          </a:p>
        </p:txBody>
      </p:sp>
      <p:sp>
        <p:nvSpPr>
          <p:cNvPr id="5" name="">
            <a:extLst xmlns:a="http://schemas.openxmlformats.org/drawingml/2006/main">
              <a:ext uri="{FF2B5EF4-FFF2-40B4-BE49-F238E27FC236}">
                <a16:creationId xmlns:a16="http://schemas.microsoft.com/office/drawing/2014/main" id="{7129ABA3-A807-40B8-A3F8-4FF36BCA27E8}"/>
              </a:ext>
            </a:extLst>
          </p:cNvPr>
          <p:cNvSpPr>
            <a:spLocks xmlns:a="http://schemas.openxmlformats.org/drawingml/2006/main" noGrp="1"/>
          </p:cNvSpPr>
          <p:nvPr/>
        </p:nvSpPr>
        <p:spPr>
          <a:xfrm xmlns:a="http://schemas.openxmlformats.org/drawingml/2006/main">
            <a:off x="8286750" y="6457950"/>
            <a:ext cx="3371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Hackathon draft · 9 Oct 2026  /  6</a:t>
            </a:r>
          </a:p>
        </p:txBody>
      </p:sp>
      <p:sp>
        <p:nvSpPr>
          <p:cNvPr id="6" name="">
            <a:extLst xmlns:a="http://schemas.openxmlformats.org/drawingml/2006/main">
              <a:ext uri="{FF2B5EF4-FFF2-40B4-BE49-F238E27FC236}">
                <a16:creationId xmlns:a16="http://schemas.microsoft.com/office/drawing/2014/main" id="{D5CA7A79-EF16-4EA5-B1DA-DD98F100140F}"/>
              </a:ext>
            </a:extLst>
          </p:cNvPr>
          <p:cNvSpPr>
            <a:spLocks xmlns:a="http://schemas.openxmlformats.org/drawingml/2006/main" noGrp="1"/>
          </p:cNvSpPr>
          <p:nvPr/>
        </p:nvSpPr>
        <p:spPr>
          <a:xfrm xmlns:a="http://schemas.openxmlformats.org/drawingml/2006/main">
            <a:off x="533400" y="1790700"/>
            <a:ext cx="3600450" cy="3905250"/>
          </a:xfrm>
          <a:prstGeom xmlns:a="http://schemas.openxmlformats.org/drawingml/2006/main" prst="rect">
            <a:avLst/>
          </a:prstGeom>
          <a:solidFill xmlns:a="http://schemas.openxmlformats.org/drawingml/2006/main">
            <a:srgbClr val="2C211B"/>
          </a:solidFill>
          <a:ln xmlns:a="http://schemas.openxmlformats.org/drawingml/2006/main" w="9525">
            <a:solidFill>
              <a:srgbClr val="644C31"/>
            </a:solidFill>
          </a:ln>
        </p:spPr>
      </p:sp>
      <p:sp>
        <p:nvSpPr>
          <p:cNvPr id="7" name="">
            <a:extLst xmlns:a="http://schemas.openxmlformats.org/drawingml/2006/main">
              <a:ext uri="{FF2B5EF4-FFF2-40B4-BE49-F238E27FC236}">
                <a16:creationId xmlns:a16="http://schemas.microsoft.com/office/drawing/2014/main" id="{E516277B-3199-45D5-BCF2-E1F34EB48F6D}"/>
              </a:ext>
            </a:extLst>
          </p:cNvPr>
          <p:cNvSpPr>
            <a:spLocks xmlns:a="http://schemas.openxmlformats.org/drawingml/2006/main" noGrp="1"/>
          </p:cNvSpPr>
          <p:nvPr/>
        </p:nvSpPr>
        <p:spPr>
          <a:xfrm xmlns:a="http://schemas.openxmlformats.org/drawingml/2006/main">
            <a:off x="762000" y="2009775"/>
            <a:ext cx="3162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CFA25D"/>
                </a:solidFill>
                <a:latin typeface="Arial"/>
                <a:ea typeface="Arial"/>
                <a:cs typeface="Arial"/>
              </a:defRPr>
            </a:defPPr>
          </a:lstStyle>
          <a:p xmlns:a="http://schemas.openxmlformats.org/drawingml/2006/main">
            <a:pPr>
              <a:defRPr sz="1200" b="1">
                <a:solidFill>
                  <a:srgbClr val="CFA25D"/>
                </a:solidFill>
                <a:latin typeface="Arial"/>
                <a:ea typeface="Arial"/>
                <a:cs typeface="Arial"/>
              </a:defRPr>
            </a:pPr>
            <a:r>
              <a:rPr sz="1200" b="1">
                <a:solidFill>
                  <a:srgbClr val="CFA25D"/>
                </a:solidFill>
                <a:latin typeface="Arial"/>
                <a:ea typeface="Arial"/>
                <a:cs typeface="Arial"/>
              </a:rPr>
              <a:t>GAME</a:t>
            </a:r>
          </a:p>
        </p:txBody>
      </p:sp>
      <p:sp>
        <p:nvSpPr>
          <p:cNvPr id="8" name="">
            <a:extLst xmlns:a="http://schemas.openxmlformats.org/drawingml/2006/main">
              <a:ext uri="{FF2B5EF4-FFF2-40B4-BE49-F238E27FC236}">
                <a16:creationId xmlns:a16="http://schemas.microsoft.com/office/drawing/2014/main" id="{13B1B8CD-13E6-4C42-A28B-30A7D25D281A}"/>
              </a:ext>
            </a:extLst>
          </p:cNvPr>
          <p:cNvSpPr>
            <a:spLocks xmlns:a="http://schemas.openxmlformats.org/drawingml/2006/main" noGrp="1"/>
          </p:cNvSpPr>
          <p:nvPr/>
        </p:nvSpPr>
        <p:spPr>
          <a:xfrm xmlns:a="http://schemas.openxmlformats.org/drawingml/2006/main">
            <a:off x="762000" y="2619375"/>
            <a:ext cx="3162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4EAD3"/>
                </a:solidFill>
                <a:latin typeface="Georgia"/>
                <a:ea typeface="Georgia"/>
                <a:cs typeface="Georgia"/>
              </a:defRPr>
            </a:defPPr>
          </a:lstStyle>
          <a:p xmlns:a="http://schemas.openxmlformats.org/drawingml/2006/main">
            <a:pPr>
              <a:defRPr sz="2400" b="0">
                <a:solidFill>
                  <a:srgbClr val="F4EAD3"/>
                </a:solidFill>
                <a:latin typeface="Georgia"/>
                <a:ea typeface="Georgia"/>
                <a:cs typeface="Georgia"/>
              </a:defRPr>
            </a:pPr>
            <a:r>
              <a:rPr sz="2400" b="0">
                <a:solidFill>
                  <a:srgbClr val="F4EAD3"/>
                </a:solidFill>
                <a:latin typeface="Georgia"/>
                <a:ea typeface="Georgia"/>
                <a:cs typeface="Georgia"/>
              </a:rPr>
              <a:t>Deterministic card rules</a:t>
            </a:r>
          </a:p>
        </p:txBody>
      </p:sp>
      <p:sp>
        <p:nvSpPr>
          <p:cNvPr id="9" name="">
            <a:extLst xmlns:a="http://schemas.openxmlformats.org/drawingml/2006/main">
              <a:ext uri="{FF2B5EF4-FFF2-40B4-BE49-F238E27FC236}">
                <a16:creationId xmlns:a16="http://schemas.microsoft.com/office/drawing/2014/main" id="{370416E4-BDBD-450D-95CD-38D33EDDEED2}"/>
              </a:ext>
            </a:extLst>
          </p:cNvPr>
          <p:cNvSpPr>
            <a:spLocks xmlns:a="http://schemas.openxmlformats.org/drawingml/2006/main" noGrp="1"/>
          </p:cNvSpPr>
          <p:nvPr/>
        </p:nvSpPr>
        <p:spPr>
          <a:xfrm xmlns:a="http://schemas.openxmlformats.org/drawingml/2006/main">
            <a:off x="762000" y="3876675"/>
            <a:ext cx="31623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4B59C"/>
                </a:solidFill>
                <a:latin typeface="Arial"/>
                <a:ea typeface="Arial"/>
                <a:cs typeface="Arial"/>
              </a:defRPr>
            </a:defPPr>
          </a:lstStyle>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Turns, attacks and public edicts</a:t>
            </a:r>
          </a:p>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resolve in the game engine.</a:t>
            </a:r>
          </a:p>
        </p:txBody>
      </p:sp>
      <p:sp>
        <p:nvSpPr>
          <p:cNvPr id="10" name="">
            <a:extLst xmlns:a="http://schemas.openxmlformats.org/drawingml/2006/main">
              <a:ext uri="{FF2B5EF4-FFF2-40B4-BE49-F238E27FC236}">
                <a16:creationId xmlns:a16="http://schemas.microsoft.com/office/drawing/2014/main" id="{C3D00682-59F5-44C8-8629-82415DE6EFB3}"/>
              </a:ext>
            </a:extLst>
          </p:cNvPr>
          <p:cNvSpPr>
            <a:spLocks xmlns:a="http://schemas.openxmlformats.org/drawingml/2006/main" noGrp="1"/>
          </p:cNvSpPr>
          <p:nvPr/>
        </p:nvSpPr>
        <p:spPr>
          <a:xfrm xmlns:a="http://schemas.openxmlformats.org/drawingml/2006/main">
            <a:off x="762000" y="5143500"/>
            <a:ext cx="31623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CFA25D"/>
                </a:solidFill>
                <a:latin typeface="Arial"/>
                <a:ea typeface="Arial"/>
                <a:cs typeface="Arial"/>
              </a:defRPr>
            </a:defPPr>
          </a:lstStyle>
          <a:p xmlns:a="http://schemas.openxmlformats.org/drawingml/2006/main">
            <a:pPr>
              <a:defRPr sz="1275" b="0">
                <a:solidFill>
                  <a:srgbClr val="CFA25D"/>
                </a:solidFill>
                <a:latin typeface="Arial"/>
                <a:ea typeface="Arial"/>
                <a:cs typeface="Arial"/>
              </a:defRPr>
            </a:pPr>
            <a:r>
              <a:rPr sz="1275" b="0">
                <a:solidFill>
                  <a:srgbClr val="CFA25D"/>
                </a:solidFill>
                <a:latin typeface="Arial"/>
                <a:ea typeface="Arial"/>
                <a:cs typeface="Arial"/>
              </a:rPr>
              <a:t>Working training game</a:t>
            </a:r>
          </a:p>
        </p:txBody>
      </p:sp>
      <p:sp>
        <p:nvSpPr>
          <p:cNvPr id="11" name="">
            <a:extLst xmlns:a="http://schemas.openxmlformats.org/drawingml/2006/main">
              <a:ext uri="{FF2B5EF4-FFF2-40B4-BE49-F238E27FC236}">
                <a16:creationId xmlns:a16="http://schemas.microsoft.com/office/drawing/2014/main" id="{0C9E3621-1299-49F1-B52B-20918C429333}"/>
              </a:ext>
            </a:extLst>
          </p:cNvPr>
          <p:cNvSpPr>
            <a:spLocks xmlns:a="http://schemas.openxmlformats.org/drawingml/2006/main" noGrp="1"/>
          </p:cNvSpPr>
          <p:nvPr/>
        </p:nvSpPr>
        <p:spPr>
          <a:xfrm xmlns:a="http://schemas.openxmlformats.org/drawingml/2006/main">
            <a:off x="4295775" y="1790700"/>
            <a:ext cx="3600450" cy="3905250"/>
          </a:xfrm>
          <a:prstGeom xmlns:a="http://schemas.openxmlformats.org/drawingml/2006/main" prst="rect">
            <a:avLst/>
          </a:prstGeom>
          <a:solidFill xmlns:a="http://schemas.openxmlformats.org/drawingml/2006/main">
            <a:srgbClr val="2C211B"/>
          </a:solidFill>
          <a:ln xmlns:a="http://schemas.openxmlformats.org/drawingml/2006/main" w="9525">
            <a:solidFill>
              <a:srgbClr val="644C31"/>
            </a:solidFill>
          </a:ln>
        </p:spPr>
      </p:sp>
      <p:sp>
        <p:nvSpPr>
          <p:cNvPr id="12" name="">
            <a:extLst xmlns:a="http://schemas.openxmlformats.org/drawingml/2006/main">
              <a:ext uri="{FF2B5EF4-FFF2-40B4-BE49-F238E27FC236}">
                <a16:creationId xmlns:a16="http://schemas.microsoft.com/office/drawing/2014/main" id="{FDF67620-4413-4962-A055-C59215A38165}"/>
              </a:ext>
            </a:extLst>
          </p:cNvPr>
          <p:cNvSpPr>
            <a:spLocks xmlns:a="http://schemas.openxmlformats.org/drawingml/2006/main" noGrp="1"/>
          </p:cNvSpPr>
          <p:nvPr/>
        </p:nvSpPr>
        <p:spPr>
          <a:xfrm xmlns:a="http://schemas.openxmlformats.org/drawingml/2006/main">
            <a:off x="4524375" y="2009775"/>
            <a:ext cx="3162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CFA25D"/>
                </a:solidFill>
                <a:latin typeface="Arial"/>
                <a:ea typeface="Arial"/>
                <a:cs typeface="Arial"/>
              </a:defRPr>
            </a:defPPr>
          </a:lstStyle>
          <a:p xmlns:a="http://schemas.openxmlformats.org/drawingml/2006/main">
            <a:pPr>
              <a:defRPr sz="1200" b="1">
                <a:solidFill>
                  <a:srgbClr val="CFA25D"/>
                </a:solidFill>
                <a:latin typeface="Arial"/>
                <a:ea typeface="Arial"/>
                <a:cs typeface="Arial"/>
              </a:defRPr>
            </a:pPr>
            <a:r>
              <a:rPr sz="1200" b="1">
                <a:solidFill>
                  <a:srgbClr val="CFA25D"/>
                </a:solidFill>
                <a:latin typeface="Arial"/>
                <a:ea typeface="Arial"/>
                <a:cs typeface="Arial"/>
              </a:rPr>
              <a:t>WALLET</a:t>
            </a:r>
          </a:p>
        </p:txBody>
      </p:sp>
      <p:sp>
        <p:nvSpPr>
          <p:cNvPr id="13" name="">
            <a:extLst xmlns:a="http://schemas.openxmlformats.org/drawingml/2006/main">
              <a:ext uri="{FF2B5EF4-FFF2-40B4-BE49-F238E27FC236}">
                <a16:creationId xmlns:a16="http://schemas.microsoft.com/office/drawing/2014/main" id="{EB4BF57D-E269-4402-94A5-149DEDA0098C}"/>
              </a:ext>
            </a:extLst>
          </p:cNvPr>
          <p:cNvSpPr>
            <a:spLocks xmlns:a="http://schemas.openxmlformats.org/drawingml/2006/main" noGrp="1"/>
          </p:cNvSpPr>
          <p:nvPr/>
        </p:nvSpPr>
        <p:spPr>
          <a:xfrm xmlns:a="http://schemas.openxmlformats.org/drawingml/2006/main">
            <a:off x="4524375" y="2619375"/>
            <a:ext cx="3162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4EAD3"/>
                </a:solidFill>
                <a:latin typeface="Georgia"/>
                <a:ea typeface="Georgia"/>
                <a:cs typeface="Georgia"/>
              </a:defRPr>
            </a:defPPr>
          </a:lstStyle>
          <a:p xmlns:a="http://schemas.openxmlformats.org/drawingml/2006/main">
            <a:pPr>
              <a:defRPr sz="2400" b="0">
                <a:solidFill>
                  <a:srgbClr val="F4EAD3"/>
                </a:solidFill>
                <a:latin typeface="Georgia"/>
                <a:ea typeface="Georgia"/>
                <a:cs typeface="Georgia"/>
              </a:defRPr>
            </a:pPr>
            <a:r>
              <a:rPr sz="2400" b="0">
                <a:solidFill>
                  <a:srgbClr val="F4EAD3"/>
                </a:solidFill>
                <a:latin typeface="Georgia"/>
                <a:ea typeface="Georgia"/>
                <a:cs typeface="Georgia"/>
              </a:rPr>
              <a:t>Phantom participation</a:t>
            </a:r>
          </a:p>
        </p:txBody>
      </p:sp>
      <p:sp>
        <p:nvSpPr>
          <p:cNvPr id="14" name="">
            <a:extLst xmlns:a="http://schemas.openxmlformats.org/drawingml/2006/main">
              <a:ext uri="{FF2B5EF4-FFF2-40B4-BE49-F238E27FC236}">
                <a16:creationId xmlns:a16="http://schemas.microsoft.com/office/drawing/2014/main" id="{D7F9ED76-1309-40AA-BA49-E686FEBFE8C0}"/>
              </a:ext>
            </a:extLst>
          </p:cNvPr>
          <p:cNvSpPr>
            <a:spLocks xmlns:a="http://schemas.openxmlformats.org/drawingml/2006/main" noGrp="1"/>
          </p:cNvSpPr>
          <p:nvPr/>
        </p:nvSpPr>
        <p:spPr>
          <a:xfrm xmlns:a="http://schemas.openxmlformats.org/drawingml/2006/main">
            <a:off x="4524375" y="3876675"/>
            <a:ext cx="31623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4B59C"/>
                </a:solidFill>
                <a:latin typeface="Arial"/>
                <a:ea typeface="Arial"/>
                <a:cs typeface="Arial"/>
              </a:defRPr>
            </a:defPPr>
          </a:lstStyle>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A wallet signs a match message.</a:t>
            </a:r>
          </a:p>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Ed25519 verifies participation.</a:t>
            </a:r>
          </a:p>
        </p:txBody>
      </p:sp>
      <p:sp>
        <p:nvSpPr>
          <p:cNvPr id="15" name="">
            <a:extLst xmlns:a="http://schemas.openxmlformats.org/drawingml/2006/main">
              <a:ext uri="{FF2B5EF4-FFF2-40B4-BE49-F238E27FC236}">
                <a16:creationId xmlns:a16="http://schemas.microsoft.com/office/drawing/2014/main" id="{BE45DCE1-8A9F-42D9-B263-BDE44509928F}"/>
              </a:ext>
            </a:extLst>
          </p:cNvPr>
          <p:cNvSpPr>
            <a:spLocks xmlns:a="http://schemas.openxmlformats.org/drawingml/2006/main" noGrp="1"/>
          </p:cNvSpPr>
          <p:nvPr/>
        </p:nvSpPr>
        <p:spPr>
          <a:xfrm xmlns:a="http://schemas.openxmlformats.org/drawingml/2006/main">
            <a:off x="4524375" y="5143500"/>
            <a:ext cx="31623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CFA25D"/>
                </a:solidFill>
                <a:latin typeface="Arial"/>
                <a:ea typeface="Arial"/>
                <a:cs typeface="Arial"/>
              </a:defRPr>
            </a:defPPr>
          </a:lstStyle>
          <a:p xmlns:a="http://schemas.openxmlformats.org/drawingml/2006/main">
            <a:pPr>
              <a:defRPr sz="1275" b="0">
                <a:solidFill>
                  <a:srgbClr val="CFA25D"/>
                </a:solidFill>
                <a:latin typeface="Arial"/>
                <a:ea typeface="Arial"/>
                <a:cs typeface="Arial"/>
              </a:defRPr>
            </a:pPr>
            <a:r>
              <a:rPr sz="1275" b="0">
                <a:solidFill>
                  <a:srgbClr val="CFA25D"/>
                </a:solidFill>
                <a:latin typeface="Arial"/>
                <a:ea typeface="Arial"/>
                <a:cs typeface="Arial"/>
              </a:rPr>
              <a:t>Implemented · live owner test pending</a:t>
            </a:r>
          </a:p>
        </p:txBody>
      </p:sp>
      <p:sp>
        <p:nvSpPr>
          <p:cNvPr id="16" name="">
            <a:extLst xmlns:a="http://schemas.openxmlformats.org/drawingml/2006/main">
              <a:ext uri="{FF2B5EF4-FFF2-40B4-BE49-F238E27FC236}">
                <a16:creationId xmlns:a16="http://schemas.microsoft.com/office/drawing/2014/main" id="{4607D7A8-63F1-47D6-9670-CAC4698C4060}"/>
              </a:ext>
            </a:extLst>
          </p:cNvPr>
          <p:cNvSpPr>
            <a:spLocks xmlns:a="http://schemas.openxmlformats.org/drawingml/2006/main" noGrp="1"/>
          </p:cNvSpPr>
          <p:nvPr/>
        </p:nvSpPr>
        <p:spPr>
          <a:xfrm xmlns:a="http://schemas.openxmlformats.org/drawingml/2006/main">
            <a:off x="8058150" y="1790700"/>
            <a:ext cx="3600450" cy="3905250"/>
          </a:xfrm>
          <a:prstGeom xmlns:a="http://schemas.openxmlformats.org/drawingml/2006/main" prst="rect">
            <a:avLst/>
          </a:prstGeom>
          <a:solidFill xmlns:a="http://schemas.openxmlformats.org/drawingml/2006/main">
            <a:srgbClr val="2C211B"/>
          </a:solidFill>
          <a:ln xmlns:a="http://schemas.openxmlformats.org/drawingml/2006/main" w="9525">
            <a:solidFill>
              <a:srgbClr val="644C31"/>
            </a:solidFill>
          </a:ln>
        </p:spPr>
      </p:sp>
      <p:sp>
        <p:nvSpPr>
          <p:cNvPr id="17" name="">
            <a:extLst xmlns:a="http://schemas.openxmlformats.org/drawingml/2006/main">
              <a:ext uri="{FF2B5EF4-FFF2-40B4-BE49-F238E27FC236}">
                <a16:creationId xmlns:a16="http://schemas.microsoft.com/office/drawing/2014/main" id="{A7A2BCFD-A625-4DF6-B0D2-D6D9179F7C31}"/>
              </a:ext>
            </a:extLst>
          </p:cNvPr>
          <p:cNvSpPr>
            <a:spLocks xmlns:a="http://schemas.openxmlformats.org/drawingml/2006/main" noGrp="1"/>
          </p:cNvSpPr>
          <p:nvPr/>
        </p:nvSpPr>
        <p:spPr>
          <a:xfrm xmlns:a="http://schemas.openxmlformats.org/drawingml/2006/main">
            <a:off x="8286750" y="2009775"/>
            <a:ext cx="3162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CFA25D"/>
                </a:solidFill>
                <a:latin typeface="Arial"/>
                <a:ea typeface="Arial"/>
                <a:cs typeface="Arial"/>
              </a:defRPr>
            </a:defPPr>
          </a:lstStyle>
          <a:p xmlns:a="http://schemas.openxmlformats.org/drawingml/2006/main">
            <a:pPr>
              <a:defRPr sz="1200" b="1">
                <a:solidFill>
                  <a:srgbClr val="CFA25D"/>
                </a:solidFill>
                <a:latin typeface="Arial"/>
                <a:ea typeface="Arial"/>
                <a:cs typeface="Arial"/>
              </a:defRPr>
            </a:pPr>
            <a:r>
              <a:rPr sz="1200" b="1">
                <a:solidFill>
                  <a:srgbClr val="CFA25D"/>
                </a:solidFill>
                <a:latin typeface="Arial"/>
                <a:ea typeface="Arial"/>
                <a:cs typeface="Arial"/>
              </a:rPr>
              <a:t>COLLECTIBLE</a:t>
            </a:r>
          </a:p>
        </p:txBody>
      </p:sp>
      <p:sp>
        <p:nvSpPr>
          <p:cNvPr id="18" name="">
            <a:extLst xmlns:a="http://schemas.openxmlformats.org/drawingml/2006/main">
              <a:ext uri="{FF2B5EF4-FFF2-40B4-BE49-F238E27FC236}">
                <a16:creationId xmlns:a16="http://schemas.microsoft.com/office/drawing/2014/main" id="{F462D6FC-154D-46A8-A409-D404ECE85109}"/>
              </a:ext>
            </a:extLst>
          </p:cNvPr>
          <p:cNvSpPr>
            <a:spLocks xmlns:a="http://schemas.openxmlformats.org/drawingml/2006/main" noGrp="1"/>
          </p:cNvSpPr>
          <p:nvPr/>
        </p:nvSpPr>
        <p:spPr>
          <a:xfrm xmlns:a="http://schemas.openxmlformats.org/drawingml/2006/main">
            <a:off x="8286750" y="2619375"/>
            <a:ext cx="3162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4EAD3"/>
                </a:solidFill>
                <a:latin typeface="Georgia"/>
                <a:ea typeface="Georgia"/>
                <a:cs typeface="Georgia"/>
              </a:defRPr>
            </a:defPPr>
          </a:lstStyle>
          <a:p xmlns:a="http://schemas.openxmlformats.org/drawingml/2006/main">
            <a:pPr>
              <a:defRPr sz="2400" b="0">
                <a:solidFill>
                  <a:srgbClr val="F4EAD3"/>
                </a:solidFill>
                <a:latin typeface="Georgia"/>
                <a:ea typeface="Georgia"/>
                <a:cs typeface="Georgia"/>
              </a:defRPr>
            </a:pPr>
            <a:r>
              <a:rPr sz="2400" b="0">
                <a:solidFill>
                  <a:srgbClr val="F4EAD3"/>
                </a:solidFill>
                <a:latin typeface="Georgia"/>
                <a:ea typeface="Georgia"/>
                <a:cs typeface="Georgia"/>
              </a:rPr>
              <a:t>First-victory badge</a:t>
            </a:r>
          </a:p>
        </p:txBody>
      </p:sp>
      <p:sp>
        <p:nvSpPr>
          <p:cNvPr id="19" name="">
            <a:extLst xmlns:a="http://schemas.openxmlformats.org/drawingml/2006/main">
              <a:ext uri="{FF2B5EF4-FFF2-40B4-BE49-F238E27FC236}">
                <a16:creationId xmlns:a16="http://schemas.microsoft.com/office/drawing/2014/main" id="{65B2F964-75DB-43BC-8C0D-1853C6A358FE}"/>
              </a:ext>
            </a:extLst>
          </p:cNvPr>
          <p:cNvSpPr>
            <a:spLocks xmlns:a="http://schemas.openxmlformats.org/drawingml/2006/main" noGrp="1"/>
          </p:cNvSpPr>
          <p:nvPr/>
        </p:nvSpPr>
        <p:spPr>
          <a:xfrm xmlns:a="http://schemas.openxmlformats.org/drawingml/2006/main">
            <a:off x="8286750" y="3876675"/>
            <a:ext cx="31623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4B59C"/>
                </a:solidFill>
                <a:latin typeface="Arial"/>
                <a:ea typeface="Arial"/>
                <a:cs typeface="Arial"/>
              </a:defRPr>
            </a:defPPr>
          </a:lstStyle>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Metaplex Core badge code</a:t>
            </a:r>
          </a:p>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uses Solana devnet.</a:t>
            </a:r>
          </a:p>
        </p:txBody>
      </p:sp>
      <p:sp>
        <p:nvSpPr>
          <p:cNvPr id="20" name="">
            <a:extLst xmlns:a="http://schemas.openxmlformats.org/drawingml/2006/main">
              <a:ext uri="{FF2B5EF4-FFF2-40B4-BE49-F238E27FC236}">
                <a16:creationId xmlns:a16="http://schemas.microsoft.com/office/drawing/2014/main" id="{2CE88590-6036-463F-ADE5-4E6F3BEA319B}"/>
              </a:ext>
            </a:extLst>
          </p:cNvPr>
          <p:cNvSpPr>
            <a:spLocks xmlns:a="http://schemas.openxmlformats.org/drawingml/2006/main" noGrp="1"/>
          </p:cNvSpPr>
          <p:nvPr/>
        </p:nvSpPr>
        <p:spPr>
          <a:xfrm xmlns:a="http://schemas.openxmlformats.org/drawingml/2006/main">
            <a:off x="8286750" y="5143500"/>
            <a:ext cx="31623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CFA25D"/>
                </a:solidFill>
                <a:latin typeface="Arial"/>
                <a:ea typeface="Arial"/>
                <a:cs typeface="Arial"/>
              </a:defRPr>
            </a:defPPr>
          </a:lstStyle>
          <a:p xmlns:a="http://schemas.openxmlformats.org/drawingml/2006/main">
            <a:pPr>
              <a:defRPr sz="1275" b="0">
                <a:solidFill>
                  <a:srgbClr val="CFA25D"/>
                </a:solidFill>
                <a:latin typeface="Arial"/>
                <a:ea typeface="Arial"/>
                <a:cs typeface="Arial"/>
              </a:defRPr>
            </a:pPr>
            <a:r>
              <a:rPr sz="1275" b="0">
                <a:solidFill>
                  <a:srgbClr val="CFA25D"/>
                </a:solidFill>
                <a:latin typeface="Arial"/>
                <a:ea typeface="Arial"/>
                <a:cs typeface="Arial"/>
              </a:rPr>
              <a:t>Devnet code · live mint unverified</a:t>
            </a:r>
          </a:p>
        </p:txBody>
      </p:sp>
      <p:sp>
        <p:nvSpPr>
          <p:cNvPr id="21" name="">
            <a:extLst xmlns:a="http://schemas.openxmlformats.org/drawingml/2006/main">
              <a:ext uri="{FF2B5EF4-FFF2-40B4-BE49-F238E27FC236}">
                <a16:creationId xmlns:a16="http://schemas.microsoft.com/office/drawing/2014/main" id="{EC07F90D-1DCC-4D5E-8581-467B056F0D07}"/>
              </a:ext>
            </a:extLst>
          </p:cNvPr>
          <p:cNvSpPr>
            <a:spLocks xmlns:a="http://schemas.openxmlformats.org/drawingml/2006/main" noGrp="1"/>
          </p:cNvSpPr>
          <p:nvPr/>
        </p:nvSpPr>
        <p:spPr>
          <a:xfrm xmlns:a="http://schemas.openxmlformats.org/drawingml/2006/main">
            <a:off x="533400" y="5905500"/>
            <a:ext cx="11125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C4B59C"/>
                </a:solidFill>
                <a:latin typeface="Arial"/>
                <a:ea typeface="Arial"/>
                <a:cs typeface="Arial"/>
              </a:defRPr>
            </a:defPPr>
          </a:lstStyle>
          <a:p xmlns:a="http://schemas.openxmlformats.org/drawingml/2006/main">
            <a:pPr>
              <a:defRPr sz="1650" b="0">
                <a:solidFill>
                  <a:srgbClr val="C4B59C"/>
                </a:solidFill>
                <a:latin typeface="Arial"/>
                <a:ea typeface="Arial"/>
                <a:cs typeface="Arial"/>
              </a:defRPr>
            </a:pPr>
            <a:r>
              <a:rPr sz="1650" b="0">
                <a:solidFill>
                  <a:srgbClr val="C4B59C"/>
                </a:solidFill>
                <a:latin typeface="Arial"/>
                <a:ea typeface="Arial"/>
                <a:cs typeface="Arial"/>
              </a:rPr>
              <a:t>Participation signatures do not prove an honest AI victory.</a:t>
            </a:r>
          </a:p>
        </p:txBody>
      </p:sp>
    </p:spTree>
    <p:extLst>
      <p:ext uri="{BB962C8B-B14F-4D97-AF65-F5344CB8AC3E}">
        <p14:creationId xmlns:p14="http://schemas.microsoft.com/office/powerpoint/2010/main" val="412765724"/>
      </p:ext>
    </p:extLst>
  </p:cSld>
</p:sld>
</file>

<file path=ppt/slides/slide7.xml><?xml version="1.0" encoding="utf-8"?>
<p:sld xmlns:p="http://schemas.openxmlformats.org/presentationml/2006/main">
  <p:cSld>
    <p:bg>
      <p:bgPr>
        <a:solidFill xmlns:a="http://schemas.openxmlformats.org/drawingml/2006/main">
          <a:srgbClr val="1D171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17AE133-CE85-437D-BC19-2FDFE2BCB44D}"/>
              </a:ext>
            </a:extLst>
          </p:cNvPr>
          <p:cNvSpPr>
            <a:spLocks xmlns:a="http://schemas.openxmlformats.org/drawingml/2006/main" noGrp="1"/>
          </p:cNvSpPr>
          <p:nvPr/>
        </p:nvSpPr>
        <p:spPr>
          <a:xfrm xmlns:a="http://schemas.openxmlformats.org/drawingml/2006/main">
            <a:off x="533400" y="3238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CFA25D"/>
                </a:solidFill>
                <a:latin typeface="Arial"/>
                <a:ea typeface="Arial"/>
                <a:cs typeface="Arial"/>
              </a:defRPr>
            </a:defPPr>
          </a:lstStyle>
          <a:p xmlns:a="http://schemas.openxmlformats.org/drawingml/2006/main">
            <a:pPr>
              <a:defRPr sz="1200" b="1">
                <a:solidFill>
                  <a:srgbClr val="CFA25D"/>
                </a:solidFill>
                <a:latin typeface="Arial"/>
                <a:ea typeface="Arial"/>
                <a:cs typeface="Arial"/>
              </a:defRPr>
            </a:pPr>
            <a:r>
              <a:rPr sz="1200" b="1">
                <a:solidFill>
                  <a:srgbClr val="CFA25D"/>
                </a:solidFill>
                <a:latin typeface="Arial"/>
                <a:ea typeface="Arial"/>
                <a:cs typeface="Arial"/>
              </a:rPr>
              <a:t>HACKATHON COMPLETION</a:t>
            </a:r>
          </a:p>
        </p:txBody>
      </p:sp>
      <p:sp>
        <p:nvSpPr>
          <p:cNvPr id="2" name="">
            <a:extLst xmlns:a="http://schemas.openxmlformats.org/drawingml/2006/main">
              <a:ext uri="{FF2B5EF4-FFF2-40B4-BE49-F238E27FC236}">
                <a16:creationId xmlns:a16="http://schemas.microsoft.com/office/drawing/2014/main" id="{A1CB1257-5E53-4451-A7B0-20B72459CC6C}"/>
              </a:ext>
            </a:extLst>
          </p:cNvPr>
          <p:cNvSpPr>
            <a:spLocks xmlns:a="http://schemas.openxmlformats.org/drawingml/2006/main" noGrp="1"/>
          </p:cNvSpPr>
          <p:nvPr/>
        </p:nvSpPr>
        <p:spPr>
          <a:xfrm xmlns:a="http://schemas.openxmlformats.org/drawingml/2006/main">
            <a:off x="533400" y="742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F4EAD3"/>
                </a:solidFill>
                <a:latin typeface="Georgia"/>
                <a:ea typeface="Georgia"/>
                <a:cs typeface="Georgia"/>
              </a:defRPr>
            </a:defPPr>
          </a:lstStyle>
          <a:p xmlns:a="http://schemas.openxmlformats.org/drawingml/2006/main">
            <a:pPr>
              <a:defRPr sz="3450" b="0">
                <a:solidFill>
                  <a:srgbClr val="F4EAD3"/>
                </a:solidFill>
                <a:latin typeface="Georgia"/>
                <a:ea typeface="Georgia"/>
                <a:cs typeface="Georgia"/>
              </a:defRPr>
            </a:pPr>
            <a:r>
              <a:rPr sz="3450" b="0">
                <a:solidFill>
                  <a:srgbClr val="F4EAD3"/>
                </a:solidFill>
                <a:latin typeface="Georgia"/>
                <a:ea typeface="Georgia"/>
                <a:cs typeface="Georgia"/>
              </a:rPr>
              <a:t>Three iDos steps still to verify</a:t>
            </a:r>
          </a:p>
        </p:txBody>
      </p:sp>
      <p:sp>
        <p:nvSpPr>
          <p:cNvPr id="3" name="">
            <a:extLst xmlns:a="http://schemas.openxmlformats.org/drawingml/2006/main">
              <a:ext uri="{FF2B5EF4-FFF2-40B4-BE49-F238E27FC236}">
                <a16:creationId xmlns:a16="http://schemas.microsoft.com/office/drawing/2014/main" id="{89BAB4E7-6881-4EAA-8C32-A635F7BAD4E7}"/>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644C31"/>
          </a:solidFill>
          <a:ln xmlns:a="http://schemas.openxmlformats.org/drawingml/2006/main" w="9525">
            <a:solidFill>
              <a:srgbClr val="644C31"/>
            </a:solidFill>
          </a:ln>
        </p:spPr>
      </p:sp>
      <p:sp>
        <p:nvSpPr>
          <p:cNvPr id="4" name="">
            <a:extLst xmlns:a="http://schemas.openxmlformats.org/drawingml/2006/main">
              <a:ext uri="{FF2B5EF4-FFF2-40B4-BE49-F238E27FC236}">
                <a16:creationId xmlns:a16="http://schemas.microsoft.com/office/drawing/2014/main" id="{C9ED33B4-82E7-4039-972F-C5CE7D10518D}"/>
              </a:ext>
            </a:extLst>
          </p:cNvPr>
          <p:cNvSpPr>
            <a:spLocks xmlns:a="http://schemas.openxmlformats.org/drawingml/2006/main" noGrp="1"/>
          </p:cNvSpPr>
          <p:nvPr/>
        </p:nvSpPr>
        <p:spPr>
          <a:xfrm xmlns:a="http://schemas.openxmlformats.org/drawingml/2006/main">
            <a:off x="533400" y="6457950"/>
            <a:ext cx="609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IMPERIVM  /  CRYPTO WORLD’S FAIR</a:t>
            </a:r>
          </a:p>
        </p:txBody>
      </p:sp>
      <p:sp>
        <p:nvSpPr>
          <p:cNvPr id="5" name="">
            <a:extLst xmlns:a="http://schemas.openxmlformats.org/drawingml/2006/main">
              <a:ext uri="{FF2B5EF4-FFF2-40B4-BE49-F238E27FC236}">
                <a16:creationId xmlns:a16="http://schemas.microsoft.com/office/drawing/2014/main" id="{EB3AE6BF-A0E4-42E3-8828-45FDDC143074}"/>
              </a:ext>
            </a:extLst>
          </p:cNvPr>
          <p:cNvSpPr>
            <a:spLocks xmlns:a="http://schemas.openxmlformats.org/drawingml/2006/main" noGrp="1"/>
          </p:cNvSpPr>
          <p:nvPr/>
        </p:nvSpPr>
        <p:spPr>
          <a:xfrm xmlns:a="http://schemas.openxmlformats.org/drawingml/2006/main">
            <a:off x="8286750" y="6457950"/>
            <a:ext cx="3371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Hackathon draft · 9 Oct 2026  /  7</a:t>
            </a:r>
          </a:p>
        </p:txBody>
      </p:sp>
      <p:sp>
        <p:nvSpPr>
          <p:cNvPr id="6" name="">
            <a:extLst xmlns:a="http://schemas.openxmlformats.org/drawingml/2006/main">
              <a:ext uri="{FF2B5EF4-FFF2-40B4-BE49-F238E27FC236}">
                <a16:creationId xmlns:a16="http://schemas.microsoft.com/office/drawing/2014/main" id="{F9C1AB82-FB4D-4E82-9DC4-F970353D22BC}"/>
              </a:ext>
            </a:extLst>
          </p:cNvPr>
          <p:cNvSpPr>
            <a:spLocks xmlns:a="http://schemas.openxmlformats.org/drawingml/2006/main" noGrp="1"/>
          </p:cNvSpPr>
          <p:nvPr/>
        </p:nvSpPr>
        <p:spPr>
          <a:xfrm xmlns:a="http://schemas.openxmlformats.org/drawingml/2006/main">
            <a:off x="533400" y="177165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CFA25D"/>
                </a:solidFill>
                <a:latin typeface="Georgia"/>
                <a:ea typeface="Georgia"/>
                <a:cs typeface="Georgia"/>
              </a:defRPr>
            </a:defPPr>
          </a:lstStyle>
          <a:p xmlns:a="http://schemas.openxmlformats.org/drawingml/2006/main">
            <a:pPr>
              <a:defRPr sz="2550" b="0">
                <a:solidFill>
                  <a:srgbClr val="CFA25D"/>
                </a:solidFill>
                <a:latin typeface="Georgia"/>
                <a:ea typeface="Georgia"/>
                <a:cs typeface="Georgia"/>
              </a:defRPr>
            </a:pPr>
            <a:r>
              <a:rPr sz="2550" b="0">
                <a:solidFill>
                  <a:srgbClr val="CFA25D"/>
                </a:solidFill>
                <a:latin typeface="Georgia"/>
                <a:ea typeface="Georgia"/>
                <a:cs typeface="Georgia"/>
              </a:rPr>
              <a:t>01</a:t>
            </a:r>
          </a:p>
        </p:txBody>
      </p:sp>
      <p:sp>
        <p:nvSpPr>
          <p:cNvPr id="7" name="">
            <a:extLst xmlns:a="http://schemas.openxmlformats.org/drawingml/2006/main">
              <a:ext uri="{FF2B5EF4-FFF2-40B4-BE49-F238E27FC236}">
                <a16:creationId xmlns:a16="http://schemas.microsoft.com/office/drawing/2014/main" id="{19A0C65C-CEEF-49DD-AB42-D7EC586664E5}"/>
              </a:ext>
            </a:extLst>
          </p:cNvPr>
          <p:cNvSpPr>
            <a:spLocks xmlns:a="http://schemas.openxmlformats.org/drawingml/2006/main" noGrp="1"/>
          </p:cNvSpPr>
          <p:nvPr/>
        </p:nvSpPr>
        <p:spPr>
          <a:xfrm xmlns:a="http://schemas.openxmlformats.org/drawingml/2006/main">
            <a:off x="1476375" y="177165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F4EAD3"/>
                </a:solidFill>
                <a:latin typeface="Arial"/>
                <a:ea typeface="Arial"/>
                <a:cs typeface="Arial"/>
              </a:defRPr>
            </a:defPPr>
          </a:lstStyle>
          <a:p xmlns:a="http://schemas.openxmlformats.org/drawingml/2006/main">
            <a:pPr>
              <a:defRPr sz="2175" b="1">
                <a:solidFill>
                  <a:srgbClr val="F4EAD3"/>
                </a:solidFill>
                <a:latin typeface="Arial"/>
                <a:ea typeface="Arial"/>
                <a:cs typeface="Arial"/>
              </a:defRPr>
            </a:pPr>
            <a:r>
              <a:rPr sz="2175" b="1">
                <a:solidFill>
                  <a:srgbClr val="F4EAD3"/>
                </a:solidFill>
                <a:latin typeface="Arial"/>
                <a:ea typeface="Arial"/>
                <a:cs typeface="Arial"/>
              </a:rPr>
              <a:t>Title + game build</a:t>
            </a:r>
          </a:p>
        </p:txBody>
      </p:sp>
      <p:sp>
        <p:nvSpPr>
          <p:cNvPr id="8" name="">
            <a:extLst xmlns:a="http://schemas.openxmlformats.org/drawingml/2006/main">
              <a:ext uri="{FF2B5EF4-FFF2-40B4-BE49-F238E27FC236}">
                <a16:creationId xmlns:a16="http://schemas.microsoft.com/office/drawing/2014/main" id="{1F78D6F5-C4A2-4B76-AE44-6BF7F7ECA565}"/>
              </a:ext>
            </a:extLst>
          </p:cNvPr>
          <p:cNvSpPr>
            <a:spLocks xmlns:a="http://schemas.openxmlformats.org/drawingml/2006/main" noGrp="1"/>
          </p:cNvSpPr>
          <p:nvPr/>
        </p:nvSpPr>
        <p:spPr>
          <a:xfrm xmlns:a="http://schemas.openxmlformats.org/drawingml/2006/main">
            <a:off x="1476375" y="2209800"/>
            <a:ext cx="9715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4B59C"/>
                </a:solidFill>
                <a:latin typeface="Arial"/>
                <a:ea typeface="Arial"/>
                <a:cs typeface="Arial"/>
              </a:defRPr>
            </a:defPPr>
          </a:lstStyle>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Configure the iDos Title and upload</a:t>
            </a:r>
          </a:p>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the actual game for platform testing.</a:t>
            </a:r>
          </a:p>
        </p:txBody>
      </p:sp>
      <p:sp>
        <p:nvSpPr>
          <p:cNvPr id="9" name="">
            <a:extLst xmlns:a="http://schemas.openxmlformats.org/drawingml/2006/main">
              <a:ext uri="{FF2B5EF4-FFF2-40B4-BE49-F238E27FC236}">
                <a16:creationId xmlns:a16="http://schemas.microsoft.com/office/drawing/2014/main" id="{80184D3A-1DF5-40A5-AB65-06A0B36EC876}"/>
              </a:ext>
            </a:extLst>
          </p:cNvPr>
          <p:cNvSpPr>
            <a:spLocks xmlns:a="http://schemas.openxmlformats.org/drawingml/2006/main" noGrp="1"/>
          </p:cNvSpPr>
          <p:nvPr/>
        </p:nvSpPr>
        <p:spPr>
          <a:xfrm xmlns:a="http://schemas.openxmlformats.org/drawingml/2006/main">
            <a:off x="533400" y="307657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CFA25D"/>
                </a:solidFill>
                <a:latin typeface="Georgia"/>
                <a:ea typeface="Georgia"/>
                <a:cs typeface="Georgia"/>
              </a:defRPr>
            </a:defPPr>
          </a:lstStyle>
          <a:p xmlns:a="http://schemas.openxmlformats.org/drawingml/2006/main">
            <a:pPr>
              <a:defRPr sz="2550" b="0">
                <a:solidFill>
                  <a:srgbClr val="CFA25D"/>
                </a:solidFill>
                <a:latin typeface="Georgia"/>
                <a:ea typeface="Georgia"/>
                <a:cs typeface="Georgia"/>
              </a:defRPr>
            </a:pPr>
            <a:r>
              <a:rPr sz="2550" b="0">
                <a:solidFill>
                  <a:srgbClr val="CFA25D"/>
                </a:solidFill>
                <a:latin typeface="Georgia"/>
                <a:ea typeface="Georgia"/>
                <a:cs typeface="Georgia"/>
              </a:rPr>
              <a:t>02</a:t>
            </a:r>
          </a:p>
        </p:txBody>
      </p:sp>
      <p:sp>
        <p:nvSpPr>
          <p:cNvPr id="10" name="">
            <a:extLst xmlns:a="http://schemas.openxmlformats.org/drawingml/2006/main">
              <a:ext uri="{FF2B5EF4-FFF2-40B4-BE49-F238E27FC236}">
                <a16:creationId xmlns:a16="http://schemas.microsoft.com/office/drawing/2014/main" id="{D912D048-3A9A-4EED-BE2D-757EB9AED3AA}"/>
              </a:ext>
            </a:extLst>
          </p:cNvPr>
          <p:cNvSpPr>
            <a:spLocks xmlns:a="http://schemas.openxmlformats.org/drawingml/2006/main" noGrp="1"/>
          </p:cNvSpPr>
          <p:nvPr/>
        </p:nvSpPr>
        <p:spPr>
          <a:xfrm xmlns:a="http://schemas.openxmlformats.org/drawingml/2006/main">
            <a:off x="1476375" y="3076575"/>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F4EAD3"/>
                </a:solidFill>
                <a:latin typeface="Arial"/>
                <a:ea typeface="Arial"/>
                <a:cs typeface="Arial"/>
              </a:defRPr>
            </a:defPPr>
          </a:lstStyle>
          <a:p xmlns:a="http://schemas.openxmlformats.org/drawingml/2006/main">
            <a:pPr>
              <a:defRPr sz="2175" b="1">
                <a:solidFill>
                  <a:srgbClr val="F4EAD3"/>
                </a:solidFill>
                <a:latin typeface="Arial"/>
                <a:ea typeface="Arial"/>
                <a:cs typeface="Arial"/>
              </a:defRPr>
            </a:pPr>
            <a:r>
              <a:rPr sz="2175" b="1">
                <a:solidFill>
                  <a:srgbClr val="F4EAD3"/>
                </a:solidFill>
                <a:latin typeface="Arial"/>
                <a:ea typeface="Arial"/>
                <a:cs typeface="Arial"/>
              </a:rPr>
              <a:t>Mainnet game token</a:t>
            </a:r>
          </a:p>
        </p:txBody>
      </p:sp>
      <p:sp>
        <p:nvSpPr>
          <p:cNvPr id="11" name="">
            <a:extLst xmlns:a="http://schemas.openxmlformats.org/drawingml/2006/main">
              <a:ext uri="{FF2B5EF4-FFF2-40B4-BE49-F238E27FC236}">
                <a16:creationId xmlns:a16="http://schemas.microsoft.com/office/drawing/2014/main" id="{488787BC-E81B-4B18-AE55-EDDE4FBCADBB}"/>
              </a:ext>
            </a:extLst>
          </p:cNvPr>
          <p:cNvSpPr>
            <a:spLocks xmlns:a="http://schemas.openxmlformats.org/drawingml/2006/main" noGrp="1"/>
          </p:cNvSpPr>
          <p:nvPr/>
        </p:nvSpPr>
        <p:spPr>
          <a:xfrm xmlns:a="http://schemas.openxmlformats.org/drawingml/2006/main">
            <a:off x="1476375" y="3514725"/>
            <a:ext cx="9715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4B59C"/>
                </a:solidFill>
                <a:latin typeface="Arial"/>
                <a:ea typeface="Arial"/>
                <a:cs typeface="Arial"/>
              </a:defRPr>
            </a:defPPr>
          </a:lstStyle>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Create and verify the required token</a:t>
            </a:r>
          </a:p>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with a separate owner wallet confirmation.</a:t>
            </a:r>
          </a:p>
        </p:txBody>
      </p:sp>
      <p:sp>
        <p:nvSpPr>
          <p:cNvPr id="12" name="">
            <a:extLst xmlns:a="http://schemas.openxmlformats.org/drawingml/2006/main">
              <a:ext uri="{FF2B5EF4-FFF2-40B4-BE49-F238E27FC236}">
                <a16:creationId xmlns:a16="http://schemas.microsoft.com/office/drawing/2014/main" id="{521D1688-FB59-42F1-B40B-DABF0060ED40}"/>
              </a:ext>
            </a:extLst>
          </p:cNvPr>
          <p:cNvSpPr>
            <a:spLocks xmlns:a="http://schemas.openxmlformats.org/drawingml/2006/main" noGrp="1"/>
          </p:cNvSpPr>
          <p:nvPr/>
        </p:nvSpPr>
        <p:spPr>
          <a:xfrm xmlns:a="http://schemas.openxmlformats.org/drawingml/2006/main">
            <a:off x="533400" y="438150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CFA25D"/>
                </a:solidFill>
                <a:latin typeface="Georgia"/>
                <a:ea typeface="Georgia"/>
                <a:cs typeface="Georgia"/>
              </a:defRPr>
            </a:defPPr>
          </a:lstStyle>
          <a:p xmlns:a="http://schemas.openxmlformats.org/drawingml/2006/main">
            <a:pPr>
              <a:defRPr sz="2550" b="0">
                <a:solidFill>
                  <a:srgbClr val="CFA25D"/>
                </a:solidFill>
                <a:latin typeface="Georgia"/>
                <a:ea typeface="Georgia"/>
                <a:cs typeface="Georgia"/>
              </a:defRPr>
            </a:pPr>
            <a:r>
              <a:rPr sz="2550" b="0">
                <a:solidFill>
                  <a:srgbClr val="CFA25D"/>
                </a:solidFill>
                <a:latin typeface="Georgia"/>
                <a:ea typeface="Georgia"/>
                <a:cs typeface="Georgia"/>
              </a:rPr>
              <a:t>03</a:t>
            </a:r>
          </a:p>
        </p:txBody>
      </p:sp>
      <p:sp>
        <p:nvSpPr>
          <p:cNvPr id="13" name="">
            <a:extLst xmlns:a="http://schemas.openxmlformats.org/drawingml/2006/main">
              <a:ext uri="{FF2B5EF4-FFF2-40B4-BE49-F238E27FC236}">
                <a16:creationId xmlns:a16="http://schemas.microsoft.com/office/drawing/2014/main" id="{98E7620B-B36C-4589-8843-C9342ECDB233}"/>
              </a:ext>
            </a:extLst>
          </p:cNvPr>
          <p:cNvSpPr>
            <a:spLocks xmlns:a="http://schemas.openxmlformats.org/drawingml/2006/main" noGrp="1"/>
          </p:cNvSpPr>
          <p:nvPr/>
        </p:nvSpPr>
        <p:spPr>
          <a:xfrm xmlns:a="http://schemas.openxmlformats.org/drawingml/2006/main">
            <a:off x="1476375" y="438150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F4EAD3"/>
                </a:solidFill>
                <a:latin typeface="Arial"/>
                <a:ea typeface="Arial"/>
                <a:cs typeface="Arial"/>
              </a:defRPr>
            </a:defPPr>
          </a:lstStyle>
          <a:p xmlns:a="http://schemas.openxmlformats.org/drawingml/2006/main">
            <a:pPr>
              <a:defRPr sz="2175" b="1">
                <a:solidFill>
                  <a:srgbClr val="F4EAD3"/>
                </a:solidFill>
                <a:latin typeface="Arial"/>
                <a:ea typeface="Arial"/>
                <a:cs typeface="Arial"/>
              </a:defRPr>
            </a:pPr>
            <a:r>
              <a:rPr sz="2175" b="1">
                <a:solidFill>
                  <a:srgbClr val="F4EAD3"/>
                </a:solidFill>
                <a:latin typeface="Arial"/>
                <a:ea typeface="Arial"/>
                <a:cs typeface="Arial"/>
              </a:rPr>
              <a:t>Submission evidence</a:t>
            </a:r>
          </a:p>
        </p:txBody>
      </p:sp>
      <p:sp>
        <p:nvSpPr>
          <p:cNvPr id="14" name="">
            <a:extLst xmlns:a="http://schemas.openxmlformats.org/drawingml/2006/main">
              <a:ext uri="{FF2B5EF4-FFF2-40B4-BE49-F238E27FC236}">
                <a16:creationId xmlns:a16="http://schemas.microsoft.com/office/drawing/2014/main" id="{EDD03EF4-BAB2-4523-AB9B-762AEB8E8D25}"/>
              </a:ext>
            </a:extLst>
          </p:cNvPr>
          <p:cNvSpPr>
            <a:spLocks xmlns:a="http://schemas.openxmlformats.org/drawingml/2006/main" noGrp="1"/>
          </p:cNvSpPr>
          <p:nvPr/>
        </p:nvSpPr>
        <p:spPr>
          <a:xfrm xmlns:a="http://schemas.openxmlformats.org/drawingml/2006/main">
            <a:off x="1476375" y="4819650"/>
            <a:ext cx="9715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4B59C"/>
                </a:solidFill>
                <a:latin typeface="Arial"/>
                <a:ea typeface="Arial"/>
                <a:cs typeface="Arial"/>
              </a:defRPr>
            </a:defPPr>
          </a:lstStyle>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Record the working product, attach the deck,</a:t>
            </a:r>
          </a:p>
          <a:p xmlns:a="http://schemas.openxmlformats.org/drawingml/2006/main">
            <a:pPr>
              <a:defRPr sz="1725" b="0">
                <a:solidFill>
                  <a:srgbClr val="C4B59C"/>
                </a:solidFill>
                <a:latin typeface="Arial"/>
                <a:ea typeface="Arial"/>
                <a:cs typeface="Arial"/>
              </a:defRPr>
            </a:pPr>
            <a:r>
              <a:rPr sz="1725" b="0">
                <a:solidFill>
                  <a:srgbClr val="C4B59C"/>
                </a:solidFill>
                <a:latin typeface="Arial"/>
                <a:ea typeface="Arial"/>
                <a:cs typeface="Arial"/>
              </a:rPr>
              <a:t>and complete Colosseum + side-track entries.</a:t>
            </a:r>
          </a:p>
        </p:txBody>
      </p:sp>
      <p:sp>
        <p:nvSpPr>
          <p:cNvPr id="15" name="">
            <a:extLst xmlns:a="http://schemas.openxmlformats.org/drawingml/2006/main">
              <a:ext uri="{FF2B5EF4-FFF2-40B4-BE49-F238E27FC236}">
                <a16:creationId xmlns:a16="http://schemas.microsoft.com/office/drawing/2014/main" id="{18F0C9C9-928F-4AB7-AC5A-DEE1D46C35C4}"/>
              </a:ext>
            </a:extLst>
          </p:cNvPr>
          <p:cNvSpPr>
            <a:spLocks xmlns:a="http://schemas.openxmlformats.org/drawingml/2006/main" noGrp="1"/>
          </p:cNvSpPr>
          <p:nvPr/>
        </p:nvSpPr>
        <p:spPr>
          <a:xfrm xmlns:a="http://schemas.openxmlformats.org/drawingml/2006/main">
            <a:off x="533400" y="58388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FA25D"/>
                </a:solidFill>
                <a:latin typeface="Arial"/>
                <a:ea typeface="Arial"/>
                <a:cs typeface="Arial"/>
              </a:defRPr>
            </a:defPPr>
          </a:lstStyle>
          <a:p xmlns:a="http://schemas.openxmlformats.org/drawingml/2006/main">
            <a:pPr>
              <a:defRPr sz="1725" b="0">
                <a:solidFill>
                  <a:srgbClr val="CFA25D"/>
                </a:solidFill>
                <a:latin typeface="Arial"/>
                <a:ea typeface="Arial"/>
                <a:cs typeface="Arial"/>
              </a:defRPr>
            </a:pPr>
            <a:r>
              <a:rPr sz="1725" b="0">
                <a:solidFill>
                  <a:srgbClr val="CFA25D"/>
                </a:solidFill>
                <a:latin typeface="Arial"/>
                <a:ea typeface="Arial"/>
                <a:cs typeface="Arial"/>
              </a:rPr>
              <a:t>Virtual demo IMP ≠ a mainnet SPL token.</a:t>
            </a:r>
          </a:p>
        </p:txBody>
      </p:sp>
    </p:spTree>
    <p:extLst>
      <p:ext uri="{BB962C8B-B14F-4D97-AF65-F5344CB8AC3E}">
        <p14:creationId xmlns:p14="http://schemas.microsoft.com/office/powerpoint/2010/main" val="1965116726"/>
      </p:ext>
    </p:extLst>
  </p:cSld>
</p:sld>
</file>

<file path=ppt/slides/slide8.xml><?xml version="1.0" encoding="utf-8"?>
<p:sld xmlns:p="http://schemas.openxmlformats.org/presentationml/2006/main">
  <p:cSld>
    <p:bg>
      <p:bgPr>
        <a:solidFill xmlns:a="http://schemas.openxmlformats.org/drawingml/2006/main">
          <a:srgbClr val="1D171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84005AF-1BD2-4E96-9041-ABF7F8F73790}"/>
              </a:ext>
            </a:extLst>
          </p:cNvPr>
          <p:cNvSpPr>
            <a:spLocks xmlns:a="http://schemas.openxmlformats.org/drawingml/2006/main" noGrp="1"/>
          </p:cNvSpPr>
          <p:nvPr/>
        </p:nvSpPr>
        <p:spPr>
          <a:xfrm xmlns:a="http://schemas.openxmlformats.org/drawingml/2006/main">
            <a:off x="533400" y="3238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CFA25D"/>
                </a:solidFill>
                <a:latin typeface="Arial"/>
                <a:ea typeface="Arial"/>
                <a:cs typeface="Arial"/>
              </a:defRPr>
            </a:defPPr>
          </a:lstStyle>
          <a:p xmlns:a="http://schemas.openxmlformats.org/drawingml/2006/main">
            <a:pPr>
              <a:defRPr sz="1200" b="1">
                <a:solidFill>
                  <a:srgbClr val="CFA25D"/>
                </a:solidFill>
                <a:latin typeface="Arial"/>
                <a:ea typeface="Arial"/>
                <a:cs typeface="Arial"/>
              </a:defRPr>
            </a:pPr>
            <a:r>
              <a:rPr sz="1200" b="1">
                <a:solidFill>
                  <a:srgbClr val="CFA25D"/>
                </a:solidFill>
                <a:latin typeface="Arial"/>
                <a:ea typeface="Arial"/>
                <a:cs typeface="Arial"/>
              </a:rPr>
              <a:t>BUILT FOR CRYPTO WORLD’S FAIR</a:t>
            </a:r>
          </a:p>
        </p:txBody>
      </p:sp>
      <p:sp>
        <p:nvSpPr>
          <p:cNvPr id="2" name="">
            <a:extLst xmlns:a="http://schemas.openxmlformats.org/drawingml/2006/main">
              <a:ext uri="{FF2B5EF4-FFF2-40B4-BE49-F238E27FC236}">
                <a16:creationId xmlns:a16="http://schemas.microsoft.com/office/drawing/2014/main" id="{C9E25C73-4E84-433D-BFED-36A3AF4754C7}"/>
              </a:ext>
            </a:extLst>
          </p:cNvPr>
          <p:cNvSpPr>
            <a:spLocks xmlns:a="http://schemas.openxmlformats.org/drawingml/2006/main" noGrp="1"/>
          </p:cNvSpPr>
          <p:nvPr/>
        </p:nvSpPr>
        <p:spPr>
          <a:xfrm xmlns:a="http://schemas.openxmlformats.org/drawingml/2006/main">
            <a:off x="533400" y="742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F4EAD3"/>
                </a:solidFill>
                <a:latin typeface="Georgia"/>
                <a:ea typeface="Georgia"/>
                <a:cs typeface="Georgia"/>
              </a:defRPr>
            </a:defPPr>
          </a:lstStyle>
          <a:p xmlns:a="http://schemas.openxmlformats.org/drawingml/2006/main">
            <a:pPr>
              <a:defRPr sz="3450" b="0">
                <a:solidFill>
                  <a:srgbClr val="F4EAD3"/>
                </a:solidFill>
                <a:latin typeface="Georgia"/>
                <a:ea typeface="Georgia"/>
                <a:cs typeface="Georgia"/>
              </a:defRPr>
            </a:pPr>
            <a:r>
              <a:rPr sz="3450" b="0">
                <a:solidFill>
                  <a:srgbClr val="F4EAD3"/>
                </a:solidFill>
                <a:latin typeface="Georgia"/>
                <a:ea typeface="Georgia"/>
                <a:cs typeface="Georgia"/>
              </a:rPr>
              <a:t>Try the game. Inspect the code.</a:t>
            </a:r>
          </a:p>
        </p:txBody>
      </p:sp>
      <p:sp>
        <p:nvSpPr>
          <p:cNvPr id="3" name="">
            <a:extLst xmlns:a="http://schemas.openxmlformats.org/drawingml/2006/main">
              <a:ext uri="{FF2B5EF4-FFF2-40B4-BE49-F238E27FC236}">
                <a16:creationId xmlns:a16="http://schemas.microsoft.com/office/drawing/2014/main" id="{273D83C9-4BD5-499A-A3F8-CD11F315A423}"/>
              </a:ext>
            </a:extLst>
          </p:cNvPr>
          <p:cNvSpPr>
            <a:spLocks xmlns:a="http://schemas.openxmlformats.org/drawingml/2006/main" noGrp="1"/>
          </p:cNvSpPr>
          <p:nvPr/>
        </p:nvSpPr>
        <p:spPr>
          <a:xfrm xmlns:a="http://schemas.openxmlformats.org/drawingml/2006/main">
            <a:off x="533400" y="6362700"/>
            <a:ext cx="11125200" cy="9525"/>
          </a:xfrm>
          <a:prstGeom xmlns:a="http://schemas.openxmlformats.org/drawingml/2006/main" prst="rect">
            <a:avLst/>
          </a:prstGeom>
          <a:solidFill xmlns:a="http://schemas.openxmlformats.org/drawingml/2006/main">
            <a:srgbClr val="644C31"/>
          </a:solidFill>
          <a:ln xmlns:a="http://schemas.openxmlformats.org/drawingml/2006/main" w="9525">
            <a:solidFill>
              <a:srgbClr val="644C31"/>
            </a:solidFill>
          </a:ln>
        </p:spPr>
      </p:sp>
      <p:sp>
        <p:nvSpPr>
          <p:cNvPr id="4" name="">
            <a:extLst xmlns:a="http://schemas.openxmlformats.org/drawingml/2006/main">
              <a:ext uri="{FF2B5EF4-FFF2-40B4-BE49-F238E27FC236}">
                <a16:creationId xmlns:a16="http://schemas.microsoft.com/office/drawing/2014/main" id="{DCEC0883-8579-46B5-B04F-C24CB2BAFCF0}"/>
              </a:ext>
            </a:extLst>
          </p:cNvPr>
          <p:cNvSpPr>
            <a:spLocks xmlns:a="http://schemas.openxmlformats.org/drawingml/2006/main" noGrp="1"/>
          </p:cNvSpPr>
          <p:nvPr/>
        </p:nvSpPr>
        <p:spPr>
          <a:xfrm xmlns:a="http://schemas.openxmlformats.org/drawingml/2006/main">
            <a:off x="533400" y="6457950"/>
            <a:ext cx="609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IMPERIVM  /  CRYPTO WORLD’S FAIR</a:t>
            </a:r>
          </a:p>
        </p:txBody>
      </p:sp>
      <p:sp>
        <p:nvSpPr>
          <p:cNvPr id="5" name="">
            <a:extLst xmlns:a="http://schemas.openxmlformats.org/drawingml/2006/main">
              <a:ext uri="{FF2B5EF4-FFF2-40B4-BE49-F238E27FC236}">
                <a16:creationId xmlns:a16="http://schemas.microsoft.com/office/drawing/2014/main" id="{D8A6B5AF-81BB-4B2B-9456-980FB174AC6D}"/>
              </a:ext>
            </a:extLst>
          </p:cNvPr>
          <p:cNvSpPr>
            <a:spLocks xmlns:a="http://schemas.openxmlformats.org/drawingml/2006/main" noGrp="1"/>
          </p:cNvSpPr>
          <p:nvPr/>
        </p:nvSpPr>
        <p:spPr>
          <a:xfrm xmlns:a="http://schemas.openxmlformats.org/drawingml/2006/main">
            <a:off x="8286750" y="6457950"/>
            <a:ext cx="3371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C4B59C"/>
                </a:solidFill>
                <a:latin typeface="Arial"/>
                <a:ea typeface="Arial"/>
                <a:cs typeface="Arial"/>
              </a:defRPr>
            </a:defPPr>
          </a:lstStyle>
          <a:p xmlns:a="http://schemas.openxmlformats.org/drawingml/2006/main">
            <a:pPr>
              <a:defRPr sz="975" b="0">
                <a:solidFill>
                  <a:srgbClr val="C4B59C"/>
                </a:solidFill>
                <a:latin typeface="Arial"/>
                <a:ea typeface="Arial"/>
                <a:cs typeface="Arial"/>
              </a:defRPr>
            </a:pPr>
            <a:r>
              <a:rPr sz="975" b="0">
                <a:solidFill>
                  <a:srgbClr val="C4B59C"/>
                </a:solidFill>
                <a:latin typeface="Arial"/>
                <a:ea typeface="Arial"/>
                <a:cs typeface="Arial"/>
              </a:rPr>
              <a:t>Hackathon draft · 9 Oct 2026  /  8</a:t>
            </a:r>
          </a:p>
        </p:txBody>
      </p:sp>
      <p:sp>
        <p:nvSpPr>
          <p:cNvPr id="6" name="">
            <a:extLst xmlns:a="http://schemas.openxmlformats.org/drawingml/2006/main">
              <a:ext uri="{FF2B5EF4-FFF2-40B4-BE49-F238E27FC236}">
                <a16:creationId xmlns:a16="http://schemas.microsoft.com/office/drawing/2014/main" id="{A4AA7FE0-7FC2-4CD2-8C54-22E77CEBDC14}"/>
              </a:ext>
            </a:extLst>
          </p:cNvPr>
          <p:cNvSpPr>
            <a:spLocks xmlns:a="http://schemas.openxmlformats.org/drawingml/2006/main" noGrp="1"/>
          </p:cNvSpPr>
          <p:nvPr/>
        </p:nvSpPr>
        <p:spPr>
          <a:xfrm xmlns:a="http://schemas.openxmlformats.org/drawingml/2006/main">
            <a:off x="533400" y="1924050"/>
            <a:ext cx="557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0">
                <a:solidFill>
                  <a:srgbClr val="F4EAD3"/>
                </a:solidFill>
                <a:latin typeface="Georgia"/>
                <a:ea typeface="Georgia"/>
                <a:cs typeface="Georgia"/>
              </a:defRPr>
            </a:defPPr>
          </a:lstStyle>
          <a:p xmlns:a="http://schemas.openxmlformats.org/drawingml/2006/main">
            <a:pPr>
              <a:defRPr sz="2850" b="0">
                <a:solidFill>
                  <a:srgbClr val="F4EAD3"/>
                </a:solidFill>
                <a:latin typeface="Georgia"/>
                <a:ea typeface="Georgia"/>
                <a:cs typeface="Georgia"/>
              </a:defRPr>
            </a:pPr>
            <a:r>
              <a:rPr sz="2850" b="0">
                <a:solidFill>
                  <a:srgbClr val="F4EAD3"/>
                </a:solidFill>
                <a:latin typeface="Georgia"/>
                <a:ea typeface="Georgia"/>
                <a:cs typeface="Georgia"/>
              </a:rPr>
              <a:t>Rollan Rogozhin</a:t>
            </a:r>
          </a:p>
        </p:txBody>
      </p:sp>
      <p:sp>
        <p:nvSpPr>
          <p:cNvPr id="7" name="">
            <a:extLst xmlns:a="http://schemas.openxmlformats.org/drawingml/2006/main">
              <a:ext uri="{FF2B5EF4-FFF2-40B4-BE49-F238E27FC236}">
                <a16:creationId xmlns:a16="http://schemas.microsoft.com/office/drawing/2014/main" id="{CD4F7F33-26B3-4CA8-B485-12527B74EF1F}"/>
              </a:ext>
            </a:extLst>
          </p:cNvPr>
          <p:cNvSpPr>
            <a:spLocks xmlns:a="http://schemas.openxmlformats.org/drawingml/2006/main" noGrp="1"/>
          </p:cNvSpPr>
          <p:nvPr/>
        </p:nvSpPr>
        <p:spPr>
          <a:xfrm xmlns:a="http://schemas.openxmlformats.org/drawingml/2006/main">
            <a:off x="533400" y="2581275"/>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C4B59C"/>
                </a:solidFill>
                <a:latin typeface="Arial"/>
                <a:ea typeface="Arial"/>
                <a:cs typeface="Arial"/>
              </a:defRPr>
            </a:defPPr>
          </a:lstStyle>
          <a:p xmlns:a="http://schemas.openxmlformats.org/drawingml/2006/main">
            <a:pPr>
              <a:defRPr sz="1875" b="0">
                <a:solidFill>
                  <a:srgbClr val="C4B59C"/>
                </a:solidFill>
                <a:latin typeface="Arial"/>
                <a:ea typeface="Arial"/>
                <a:cs typeface="Arial"/>
              </a:defRPr>
            </a:pPr>
            <a:r>
              <a:rPr sz="1875" b="0">
                <a:solidFill>
                  <a:srgbClr val="C4B59C"/>
                </a:solidFill>
                <a:latin typeface="Arial"/>
                <a:ea typeface="Arial"/>
                <a:cs typeface="Arial"/>
              </a:rPr>
              <a:t>Founder &amp; Developer</a:t>
            </a:r>
          </a:p>
        </p:txBody>
      </p:sp>
      <p:sp>
        <p:nvSpPr>
          <p:cNvPr id="8" name="">
            <a:extLst xmlns:a="http://schemas.openxmlformats.org/drawingml/2006/main">
              <a:ext uri="{FF2B5EF4-FFF2-40B4-BE49-F238E27FC236}">
                <a16:creationId xmlns:a16="http://schemas.microsoft.com/office/drawing/2014/main" id="{830FEE69-3E34-4150-9BAB-FEFF6BACAF96}"/>
              </a:ext>
            </a:extLst>
          </p:cNvPr>
          <p:cNvSpPr>
            <a:spLocks xmlns:a="http://schemas.openxmlformats.org/drawingml/2006/main" noGrp="1"/>
          </p:cNvSpPr>
          <p:nvPr/>
        </p:nvSpPr>
        <p:spPr>
          <a:xfrm xmlns:a="http://schemas.openxmlformats.org/drawingml/2006/main">
            <a:off x="533400" y="359092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CFA25D"/>
                </a:solidFill>
                <a:latin typeface="Arial"/>
                <a:ea typeface="Arial"/>
                <a:cs typeface="Arial"/>
              </a:defRPr>
            </a:defPPr>
          </a:lstStyle>
          <a:p xmlns:a="http://schemas.openxmlformats.org/drawingml/2006/main">
            <a:pPr>
              <a:defRPr sz="1500" b="1">
                <a:solidFill>
                  <a:srgbClr val="CFA25D"/>
                </a:solidFill>
                <a:latin typeface="Arial"/>
                <a:ea typeface="Arial"/>
                <a:cs typeface="Arial"/>
              </a:defRPr>
            </a:pPr>
            <a:r>
              <a:rPr sz="1500" b="1">
                <a:solidFill>
                  <a:srgbClr val="CFA25D"/>
                </a:solidFill>
                <a:latin typeface="Arial"/>
                <a:ea typeface="Arial"/>
                <a:cs typeface="Arial"/>
              </a:rPr>
              <a:t>Browser demo</a:t>
            </a:r>
          </a:p>
        </p:txBody>
      </p:sp>
      <p:sp>
        <p:nvSpPr>
          <p:cNvPr id="9" name="">
            <a:extLst xmlns:a="http://schemas.openxmlformats.org/drawingml/2006/main">
              <a:ext uri="{FF2B5EF4-FFF2-40B4-BE49-F238E27FC236}">
                <a16:creationId xmlns:a16="http://schemas.microsoft.com/office/drawing/2014/main" id="{D06C64B2-28F2-451C-98B1-87C33E8010BE}"/>
              </a:ext>
            </a:extLst>
          </p:cNvPr>
          <p:cNvSpPr>
            <a:spLocks xmlns:a="http://schemas.openxmlformats.org/drawingml/2006/main" noGrp="1"/>
          </p:cNvSpPr>
          <p:nvPr/>
        </p:nvSpPr>
        <p:spPr>
          <a:xfrm xmlns:a="http://schemas.openxmlformats.org/drawingml/2006/main">
            <a:off x="533400" y="3990975"/>
            <a:ext cx="5572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EAD3"/>
                </a:solidFill>
                <a:latin typeface="Arial"/>
                <a:ea typeface="Arial"/>
                <a:cs typeface="Arial"/>
              </a:defRPr>
            </a:defPPr>
          </a:lstStyle>
          <a:p xmlns:a="http://schemas.openxmlformats.org/drawingml/2006/main">
            <a:pPr>
              <a:defRPr sz="2175" b="0">
                <a:solidFill>
                  <a:srgbClr val="F4EAD3"/>
                </a:solidFill>
                <a:latin typeface="Arial"/>
                <a:ea typeface="Arial"/>
                <a:cs typeface="Arial"/>
              </a:defRPr>
            </a:pPr>
            <a:r>
              <a:rPr sz="2175" b="0">
                <a:solidFill>
                  <a:srgbClr val="F4EAD3"/>
                </a:solidFill>
                <a:latin typeface="Arial"/>
                <a:ea typeface="Arial"/>
                <a:cs typeface="Arial"/>
              </a:rPr>
              <a:t>imperivm.onrender.com</a:t>
            </a:r>
          </a:p>
        </p:txBody>
      </p:sp>
      <p:sp>
        <p:nvSpPr>
          <p:cNvPr id="10" name="">
            <a:extLst xmlns:a="http://schemas.openxmlformats.org/drawingml/2006/main">
              <a:ext uri="{FF2B5EF4-FFF2-40B4-BE49-F238E27FC236}">
                <a16:creationId xmlns:a16="http://schemas.microsoft.com/office/drawing/2014/main" id="{E77D8CDF-C4A9-48D2-B182-E0FE73A47A3A}"/>
              </a:ext>
            </a:extLst>
          </p:cNvPr>
          <p:cNvSpPr>
            <a:spLocks xmlns:a="http://schemas.openxmlformats.org/drawingml/2006/main" noGrp="1"/>
          </p:cNvSpPr>
          <p:nvPr/>
        </p:nvSpPr>
        <p:spPr>
          <a:xfrm xmlns:a="http://schemas.openxmlformats.org/drawingml/2006/main">
            <a:off x="533400" y="468630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CFA25D"/>
                </a:solidFill>
                <a:latin typeface="Arial"/>
                <a:ea typeface="Arial"/>
                <a:cs typeface="Arial"/>
              </a:defRPr>
            </a:defPPr>
          </a:lstStyle>
          <a:p xmlns:a="http://schemas.openxmlformats.org/drawingml/2006/main">
            <a:pPr>
              <a:defRPr sz="1500" b="1">
                <a:solidFill>
                  <a:srgbClr val="CFA25D"/>
                </a:solidFill>
                <a:latin typeface="Arial"/>
                <a:ea typeface="Arial"/>
                <a:cs typeface="Arial"/>
              </a:defRPr>
            </a:pPr>
            <a:r>
              <a:rPr sz="1500" b="1">
                <a:solidFill>
                  <a:srgbClr val="CFA25D"/>
                </a:solidFill>
                <a:latin typeface="Arial"/>
                <a:ea typeface="Arial"/>
                <a:cs typeface="Arial"/>
              </a:rPr>
              <a:t>Open-source repository</a:t>
            </a:r>
          </a:p>
        </p:txBody>
      </p:sp>
      <p:sp>
        <p:nvSpPr>
          <p:cNvPr id="11" name="">
            <a:extLst xmlns:a="http://schemas.openxmlformats.org/drawingml/2006/main">
              <a:ext uri="{FF2B5EF4-FFF2-40B4-BE49-F238E27FC236}">
                <a16:creationId xmlns:a16="http://schemas.microsoft.com/office/drawing/2014/main" id="{B1F411A2-2E14-40F6-BDA2-8B94FC4091A4}"/>
              </a:ext>
            </a:extLst>
          </p:cNvPr>
          <p:cNvSpPr>
            <a:spLocks xmlns:a="http://schemas.openxmlformats.org/drawingml/2006/main" noGrp="1"/>
          </p:cNvSpPr>
          <p:nvPr/>
        </p:nvSpPr>
        <p:spPr>
          <a:xfrm xmlns:a="http://schemas.openxmlformats.org/drawingml/2006/main">
            <a:off x="533400" y="5095875"/>
            <a:ext cx="5857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4EAD3"/>
                </a:solidFill>
                <a:latin typeface="Arial"/>
                <a:ea typeface="Arial"/>
                <a:cs typeface="Arial"/>
              </a:defRPr>
            </a:defPPr>
          </a:lstStyle>
          <a:p xmlns:a="http://schemas.openxmlformats.org/drawingml/2006/main">
            <a:pPr>
              <a:defRPr sz="2100" b="0">
                <a:solidFill>
                  <a:srgbClr val="F4EAD3"/>
                </a:solidFill>
                <a:latin typeface="Arial"/>
                <a:ea typeface="Arial"/>
                <a:cs typeface="Arial"/>
              </a:defRPr>
            </a:pPr>
            <a:r>
              <a:rPr sz="2100" b="0">
                <a:solidFill>
                  <a:srgbClr val="F4EAD3"/>
                </a:solidFill>
                <a:latin typeface="Arial"/>
                <a:ea typeface="Arial"/>
                <a:cs typeface="Arial"/>
              </a:rPr>
              <a:t>github.com/Rrollan/imperivm</a:t>
            </a:r>
          </a:p>
        </p:txBody>
      </p:sp>
      <p:pic>
        <p:nvPicPr>
          <p:cNvPr id="12" name="">
            <a:extLst xmlns:a="http://schemas.openxmlformats.org/drawingml/2006/main">
              <a:ext uri="{FF2B5EF4-FFF2-40B4-BE49-F238E27FC236}">
                <a16:creationId xmlns:a16="http://schemas.microsoft.com/office/drawing/2014/main" id="{E069BCB5-0DB4-4D8B-A2D7-6E41D60E98F8}"/>
              </a:ext>
            </a:extLst>
          </p:cNvPr>
          <p:cNvPicPr>
            <a:picLocks xmlns:a="http://schemas.openxmlformats.org/drawingml/2006/main" noChangeAspect="1"/>
          </p:cNvPicPr>
          <p:nvPr/>
        </p:nvPicPr>
        <p:blipFill>
          <a:blip xmlns:r="http://schemas.openxmlformats.org/officeDocument/2006/relationships" xmlns:a="http://schemas.openxmlformats.org/drawingml/2006/main" r:embed="Raf1e316bbbb64b83"/>
          <a:srcRect xmlns:a="http://schemas.openxmlformats.org/drawingml/2006/main" l="7264" t="0" r="7264" b="0"/>
          <a:stretch xmlns:a="http://schemas.openxmlformats.org/drawingml/2006/main">
            <a:fillRect l="0" t="0" r="0" b="0"/>
          </a:stretch>
        </p:blipFill>
        <p:spPr>
          <a:xfrm xmlns:a="http://schemas.openxmlformats.org/drawingml/2006/main">
            <a:off x="6838950" y="1571625"/>
            <a:ext cx="4819650" cy="4581525"/>
          </a:xfrm>
          <a:prstGeom xmlns:a="http://schemas.openxmlformats.org/drawingml/2006/main" prst="rect">
            <a:avLst/>
          </a:prstGeom>
        </p:spPr>
      </p:pic>
    </p:spTree>
    <p:extLst>
      <p:ext uri="{BB962C8B-B14F-4D97-AF65-F5344CB8AC3E}">
        <p14:creationId xmlns:p14="http://schemas.microsoft.com/office/powerpoint/2010/main" val="6931546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2026-10-09T16:48:45.7930000Z</dcterms:created>
  <dcterms:modified xsi:type="dcterms:W3CDTF">2026-10-09T16:48:45.7930000Z</dcterms:modified>
</coreProperties>
</file>